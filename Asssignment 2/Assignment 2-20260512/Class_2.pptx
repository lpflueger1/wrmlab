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2" r:id="rId5"/>
    <p:sldId id="256" r:id="rId6"/>
    <p:sldId id="257" r:id="rId7"/>
    <p:sldId id="265" r:id="rId8"/>
    <p:sldId id="258" r:id="rId9"/>
    <p:sldId id="259" r:id="rId10"/>
    <p:sldId id="260" r:id="rId11"/>
    <p:sldId id="261" r:id="rId12"/>
    <p:sldId id="264" r:id="rId13"/>
    <p:sldId id="268" r:id="rId14"/>
    <p:sldId id="266" r:id="rId15"/>
    <p:sldId id="267" r:id="rId16"/>
  </p:sldIdLst>
  <p:sldSz cx="12192000" cy="6858000"/>
  <p:notesSz cx="7315200" cy="96012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3D6"/>
    <a:srgbClr val="F2CFEE"/>
    <a:srgbClr val="CAEEFB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1EFECA-DC97-4CE7-9CE2-CF7BAA8D94E1}" v="93" dt="2026-05-07T18:02:08.0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149" y="7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ostini  Ludovico (IfU, HYD)" userId="b0028af6-0086-4adc-a617-910455785cfa" providerId="ADAL" clId="{6BBCEE61-01A1-4BA4-845C-40A1AC9CC75C}"/>
    <pc:docChg chg="undo custSel addSld delSld modSld sldOrd">
      <pc:chgData name="Agostini  Ludovico (IfU, HYD)" userId="b0028af6-0086-4adc-a617-910455785cfa" providerId="ADAL" clId="{6BBCEE61-01A1-4BA4-845C-40A1AC9CC75C}" dt="2026-05-07T18:02:17.338" v="3615"/>
      <pc:docMkLst>
        <pc:docMk/>
      </pc:docMkLst>
      <pc:sldChg chg="addSp delSp modSp new mod">
        <pc:chgData name="Agostini  Ludovico (IfU, HYD)" userId="b0028af6-0086-4adc-a617-910455785cfa" providerId="ADAL" clId="{6BBCEE61-01A1-4BA4-845C-40A1AC9CC75C}" dt="2026-05-07T15:18:15.195" v="2845" actId="20577"/>
        <pc:sldMkLst>
          <pc:docMk/>
          <pc:sldMk cId="6085622" sldId="256"/>
        </pc:sldMkLst>
        <pc:spChg chg="mod">
          <ac:chgData name="Agostini  Ludovico (IfU, HYD)" userId="b0028af6-0086-4adc-a617-910455785cfa" providerId="ADAL" clId="{6BBCEE61-01A1-4BA4-845C-40A1AC9CC75C}" dt="2026-05-07T15:18:15.195" v="2845" actId="20577"/>
          <ac:spMkLst>
            <pc:docMk/>
            <pc:sldMk cId="6085622" sldId="256"/>
            <ac:spMk id="2" creationId="{C2F05807-8C53-D0E9-F9EE-D7F8382F20C1}"/>
          </ac:spMkLst>
        </pc:spChg>
      </pc:sldChg>
      <pc:sldChg chg="modSp mod">
        <pc:chgData name="Agostini  Ludovico (IfU, HYD)" userId="b0028af6-0086-4adc-a617-910455785cfa" providerId="ADAL" clId="{6BBCEE61-01A1-4BA4-845C-40A1AC9CC75C}" dt="2026-05-07T15:49:51.056" v="3607" actId="20577"/>
        <pc:sldMkLst>
          <pc:docMk/>
          <pc:sldMk cId="1581335127" sldId="261"/>
        </pc:sldMkLst>
        <pc:spChg chg="mod">
          <ac:chgData name="Agostini  Ludovico (IfU, HYD)" userId="b0028af6-0086-4adc-a617-910455785cfa" providerId="ADAL" clId="{6BBCEE61-01A1-4BA4-845C-40A1AC9CC75C}" dt="2026-05-07T15:21:40.148" v="2869" actId="20577"/>
          <ac:spMkLst>
            <pc:docMk/>
            <pc:sldMk cId="1581335127" sldId="261"/>
            <ac:spMk id="2" creationId="{99FCAC36-E26E-3221-8BF9-6CF9934A01AA}"/>
          </ac:spMkLst>
        </pc:spChg>
        <pc:spChg chg="mod">
          <ac:chgData name="Agostini  Ludovico (IfU, HYD)" userId="b0028af6-0086-4adc-a617-910455785cfa" providerId="ADAL" clId="{6BBCEE61-01A1-4BA4-845C-40A1AC9CC75C}" dt="2026-05-07T15:21:52.786" v="2873" actId="115"/>
          <ac:spMkLst>
            <pc:docMk/>
            <pc:sldMk cId="1581335127" sldId="261"/>
            <ac:spMk id="3" creationId="{5DAC25AD-F30A-C7A8-7CD6-C528DA469E6B}"/>
          </ac:spMkLst>
        </pc:spChg>
        <pc:spChg chg="mod">
          <ac:chgData name="Agostini  Ludovico (IfU, HYD)" userId="b0028af6-0086-4adc-a617-910455785cfa" providerId="ADAL" clId="{6BBCEE61-01A1-4BA4-845C-40A1AC9CC75C}" dt="2026-05-07T15:49:51.056" v="3607" actId="20577"/>
          <ac:spMkLst>
            <pc:docMk/>
            <pc:sldMk cId="1581335127" sldId="261"/>
            <ac:spMk id="6" creationId="{2192DF14-19A7-1AE1-FF88-B4050ABE1401}"/>
          </ac:spMkLst>
        </pc:spChg>
      </pc:sldChg>
      <pc:sldChg chg="modSp mod">
        <pc:chgData name="Agostini  Ludovico (IfU, HYD)" userId="b0028af6-0086-4adc-a617-910455785cfa" providerId="ADAL" clId="{6BBCEE61-01A1-4BA4-845C-40A1AC9CC75C}" dt="2026-05-07T15:50:45.338" v="3609" actId="20577"/>
        <pc:sldMkLst>
          <pc:docMk/>
          <pc:sldMk cId="2923782218" sldId="262"/>
        </pc:sldMkLst>
        <pc:spChg chg="mod">
          <ac:chgData name="Agostini  Ludovico (IfU, HYD)" userId="b0028af6-0086-4adc-a617-910455785cfa" providerId="ADAL" clId="{6BBCEE61-01A1-4BA4-845C-40A1AC9CC75C}" dt="2026-05-07T15:50:45.338" v="3609" actId="20577"/>
          <ac:spMkLst>
            <pc:docMk/>
            <pc:sldMk cId="2923782218" sldId="262"/>
            <ac:spMk id="6" creationId="{925BD481-AC4F-4C38-0EFF-60F34989377D}"/>
          </ac:spMkLst>
        </pc:spChg>
      </pc:sldChg>
      <pc:sldChg chg="addSp delSp modSp add del mod ord">
        <pc:chgData name="Agostini  Ludovico (IfU, HYD)" userId="b0028af6-0086-4adc-a617-910455785cfa" providerId="ADAL" clId="{6BBCEE61-01A1-4BA4-845C-40A1AC9CC75C}" dt="2026-05-07T15:18:00.881" v="2817" actId="47"/>
        <pc:sldMkLst>
          <pc:docMk/>
          <pc:sldMk cId="4032889049" sldId="263"/>
        </pc:sldMkLst>
      </pc:sldChg>
      <pc:sldChg chg="delSp modSp mod addAnim delAnim modAnim">
        <pc:chgData name="Agostini  Ludovico (IfU, HYD)" userId="b0028af6-0086-4adc-a617-910455785cfa" providerId="ADAL" clId="{6BBCEE61-01A1-4BA4-845C-40A1AC9CC75C}" dt="2026-05-07T18:02:17.338" v="3615"/>
        <pc:sldMkLst>
          <pc:docMk/>
          <pc:sldMk cId="3366590730" sldId="267"/>
        </pc:sldMkLst>
        <pc:spChg chg="mod">
          <ac:chgData name="Agostini  Ludovico (IfU, HYD)" userId="b0028af6-0086-4adc-a617-910455785cfa" providerId="ADAL" clId="{6BBCEE61-01A1-4BA4-845C-40A1AC9CC75C}" dt="2026-05-07T15:22:44.681" v="2898" actId="20577"/>
          <ac:spMkLst>
            <pc:docMk/>
            <pc:sldMk cId="3366590730" sldId="267"/>
            <ac:spMk id="2" creationId="{7F6A0812-47BD-BCEE-9075-251CEE911297}"/>
          </ac:spMkLst>
        </pc:spChg>
        <pc:spChg chg="mod">
          <ac:chgData name="Agostini  Ludovico (IfU, HYD)" userId="b0028af6-0086-4adc-a617-910455785cfa" providerId="ADAL" clId="{6BBCEE61-01A1-4BA4-845C-40A1AC9CC75C}" dt="2026-05-07T18:01:54.198" v="3612" actId="20577"/>
          <ac:spMkLst>
            <pc:docMk/>
            <pc:sldMk cId="3366590730" sldId="267"/>
            <ac:spMk id="3" creationId="{C24B12F4-05E6-49A1-927E-C6589C3626E3}"/>
          </ac:spMkLst>
        </pc:spChg>
        <pc:picChg chg="del">
          <ac:chgData name="Agostini  Ludovico (IfU, HYD)" userId="b0028af6-0086-4adc-a617-910455785cfa" providerId="ADAL" clId="{6BBCEE61-01A1-4BA4-845C-40A1AC9CC75C}" dt="2026-05-07T15:22:47.197" v="2899" actId="478"/>
          <ac:picMkLst>
            <pc:docMk/>
            <pc:sldMk cId="3366590730" sldId="267"/>
            <ac:picMk id="10" creationId="{B616B9BE-90AD-96E2-6B03-676C4495718F}"/>
          </ac:picMkLst>
        </pc:picChg>
      </pc:sldChg>
      <pc:sldChg chg="del">
        <pc:chgData name="Agostini  Ludovico (IfU, HYD)" userId="b0028af6-0086-4adc-a617-910455785cfa" providerId="ADAL" clId="{6BBCEE61-01A1-4BA4-845C-40A1AC9CC75C}" dt="2026-05-07T15:22:15.176" v="2874" actId="47"/>
        <pc:sldMkLst>
          <pc:docMk/>
          <pc:sldMk cId="876653928" sldId="269"/>
        </pc:sldMkLst>
      </pc:sldChg>
      <pc:sldChg chg="del">
        <pc:chgData name="Agostini  Ludovico (IfU, HYD)" userId="b0028af6-0086-4adc-a617-910455785cfa" providerId="ADAL" clId="{6BBCEE61-01A1-4BA4-845C-40A1AC9CC75C}" dt="2026-05-07T15:22:16.451" v="2875" actId="47"/>
        <pc:sldMkLst>
          <pc:docMk/>
          <pc:sldMk cId="2989666484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7937B-7E96-7CCD-1610-E6941E20D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87D7F-C03F-880A-E0C0-C98CD3D0F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7CC68-DA86-ABFC-0683-DFCF20777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CB33-33BC-4ED4-AF60-5030F88587D9}" type="datetimeFigureOut">
              <a:rPr lang="en-CH" smtClean="0"/>
              <a:t>07.05.2026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54B52-C809-7551-478B-503C2D2A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6BABD-065B-DBDF-B58F-0C448B8F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F4D2E-AB06-499B-9B87-20FE450CD4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3741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262A-DBB5-42BE-990A-A1483D2B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5E3DC-9FF7-9855-E093-4123A41A4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0AE7E-E2C9-3B20-FA11-E2F3997D0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CB33-33BC-4ED4-AF60-5030F88587D9}" type="datetimeFigureOut">
              <a:rPr lang="en-CH" smtClean="0"/>
              <a:t>07.05.2026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A0B4F-DF57-617B-0C85-CB52D95C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EA528-7362-9620-AAC3-397E0CA3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F4D2E-AB06-499B-9B87-20FE450CD4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29689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9B470-6C0F-D64F-247C-0061934F0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27DC3-EB83-06BF-65E5-FC59A7CD3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926BE-F274-47F4-CB3F-0E2666C81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CB33-33BC-4ED4-AF60-5030F88587D9}" type="datetimeFigureOut">
              <a:rPr lang="en-CH" smtClean="0"/>
              <a:t>07.05.2026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2BFD1-C290-3203-3B03-C4C647ED3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022E5-A011-6298-5CAA-B1518596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F4D2E-AB06-499B-9B87-20FE450CD4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32026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D50F-7B59-180C-B11E-B4627001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5D9A8-EB46-B4EB-5AA1-D9B0DDADF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77C90-C8DA-A219-D7FA-F1962F398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EA7CE-2882-7FB5-3D1D-E13A9C319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CB33-33BC-4ED4-AF60-5030F88587D9}" type="datetimeFigureOut">
              <a:rPr lang="en-CH" smtClean="0"/>
              <a:t>07.05.2026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C90A8-AACD-03A9-453F-1BEA60B1E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C79F4-3817-9FC1-2497-B0F3629BC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F4D2E-AB06-499B-9B87-20FE450CD4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13957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AB1EA-6067-613C-9EC4-2F04DFF2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686DA-BF9D-0646-C713-9EFC395CA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EF29F-65C0-08EC-BF92-731851B74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CA130D-AB01-36AD-1695-D94A36D38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3A3D4A-7C8E-E9BE-9B49-F4CE6AEAC2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7A4B06-FEAB-A2D3-D11C-1D920200F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CB33-33BC-4ED4-AF60-5030F88587D9}" type="datetimeFigureOut">
              <a:rPr lang="en-CH" smtClean="0"/>
              <a:t>07.05.2026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AB3094-97FA-FF96-2DD5-E51152E7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D639FA-5A3D-365F-55AD-CE060FAB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F4D2E-AB06-499B-9B87-20FE450CD4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07953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D940-04FB-93EB-8A45-01F13A118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9D1DDA-345B-D493-BDDE-417EFA87D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CB33-33BC-4ED4-AF60-5030F88587D9}" type="datetimeFigureOut">
              <a:rPr lang="en-CH" smtClean="0"/>
              <a:t>07.05.2026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972C41-4F3B-FCB2-E58E-EA2196E3A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AD86F-0EC8-34E0-03E1-59BABDB1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F4D2E-AB06-499B-9B87-20FE450CD4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63075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6DAC3-7F09-5584-FBD9-1F107775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CB33-33BC-4ED4-AF60-5030F88587D9}" type="datetimeFigureOut">
              <a:rPr lang="en-CH" smtClean="0"/>
              <a:t>07.05.2026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59C17-768F-8036-EC0E-C9836432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8AE00-2D35-8C77-1C58-D26889A39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F4D2E-AB06-499B-9B87-20FE450CD4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45085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EDFC-121F-E3B9-918C-C82FEF4D5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ABA86-27AC-29B0-E2CD-1BD9580B3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9945F-8FF9-7487-3D96-0F10DDAE1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25740-B4FE-E705-69F6-FF096CFE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CB33-33BC-4ED4-AF60-5030F88587D9}" type="datetimeFigureOut">
              <a:rPr lang="en-CH" smtClean="0"/>
              <a:t>07.05.2026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9DFB9-019D-CA94-4B35-BA1B0C9D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814E-08B0-CEFA-A6F3-CCD39CB9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F4D2E-AB06-499B-9B87-20FE450CD4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35373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87FA-DADB-2874-4D4E-968C519F8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AB9EC-251D-5C26-2849-C9ECB9A61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D41CA-1EA7-83CE-8567-6E4A03236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12567-3D14-73D2-C311-D4BE133D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CB33-33BC-4ED4-AF60-5030F88587D9}" type="datetimeFigureOut">
              <a:rPr lang="en-CH" smtClean="0"/>
              <a:t>07.05.2026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9AE61-B94E-94AB-A425-9CCACC1AA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62247-09E9-8E07-07B7-57E8CA97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F4D2E-AB06-499B-9B87-20FE450CD4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40948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57B1B-E594-3B57-8961-0037CA28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2DC8A-607D-E0A4-9673-B232B63A0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35530-1B3E-511E-9614-1BBECBE0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CB33-33BC-4ED4-AF60-5030F88587D9}" type="datetimeFigureOut">
              <a:rPr lang="en-CH" smtClean="0"/>
              <a:t>07.05.2026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99309-E25D-8081-05BE-ED84F8B27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946A5-BA8D-79ED-D9B9-4055F073D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F4D2E-AB06-499B-9B87-20FE450CD4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68024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6CF39-6131-90FC-A251-75B18E500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EE07D-9768-119C-F61A-F89001651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97C55-6A29-9B6A-134B-A16AD62F2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CB33-33BC-4ED4-AF60-5030F88587D9}" type="datetimeFigureOut">
              <a:rPr lang="en-CH" smtClean="0"/>
              <a:t>07.05.2026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68F48-6CE3-CE55-53D8-A52612DB3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A7E50-EB8A-8875-F0B0-9E0E31BD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F4D2E-AB06-499B-9B87-20FE450CD4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7604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81585-33BA-6687-5DF7-4AF858DCB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023D6-8E0D-21EF-2333-49AA6AF08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F5537-7EE5-693A-C516-030537537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6CB33-33BC-4ED4-AF60-5030F88587D9}" type="datetimeFigureOut">
              <a:rPr lang="en-CH" smtClean="0"/>
              <a:t>07.05.2026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36FE-FBDF-FB14-80FE-922642403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27BE4-699B-255D-523E-F2810467D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F4D2E-AB06-499B-9B87-20FE450CD4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68371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9B0CB0-6D9F-438A-A815-192D49C3D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24001"/>
              </p:ext>
            </p:extLst>
          </p:nvPr>
        </p:nvGraphicFramePr>
        <p:xfrm>
          <a:off x="516227" y="2345013"/>
          <a:ext cx="5120593" cy="3301200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356612">
                  <a:extLst>
                    <a:ext uri="{9D8B030D-6E8A-4147-A177-3AD203B41FA5}">
                      <a16:colId xmlns:a16="http://schemas.microsoft.com/office/drawing/2014/main" val="582628889"/>
                    </a:ext>
                  </a:extLst>
                </a:gridCol>
                <a:gridCol w="2763981">
                  <a:extLst>
                    <a:ext uri="{9D8B030D-6E8A-4147-A177-3AD203B41FA5}">
                      <a16:colId xmlns:a16="http://schemas.microsoft.com/office/drawing/2014/main" val="1742218301"/>
                    </a:ext>
                  </a:extLst>
                </a:gridCol>
              </a:tblGrid>
              <a:tr h="6183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MODULE 1 – </a:t>
                      </a:r>
                      <a:br>
                        <a:rPr lang="en-US" sz="1600" kern="100" dirty="0">
                          <a:effectLst/>
                        </a:rPr>
                      </a:br>
                      <a:r>
                        <a:rPr lang="en-US" sz="1600" kern="100" dirty="0">
                          <a:effectLst/>
                        </a:rPr>
                        <a:t>FREQUENCIY ANALYSIS</a:t>
                      </a:r>
                      <a:endParaRPr lang="en-CH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en-CH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16663"/>
                  </a:ext>
                </a:extLst>
              </a:tr>
              <a:tr h="14066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20.03</a:t>
                      </a:r>
                      <a:endParaRPr lang="en-CH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Introduction to Anaconda </a:t>
                      </a:r>
                      <a:br>
                        <a:rPr lang="en-US" sz="1600" kern="100" dirty="0">
                          <a:effectLst/>
                        </a:rPr>
                      </a:br>
                      <a:r>
                        <a:rPr lang="en-US" sz="1600" kern="100" dirty="0">
                          <a:effectLst/>
                        </a:rPr>
                        <a:t>and VS code </a:t>
                      </a:r>
                      <a:endParaRPr lang="en-CH" sz="12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Module 1 project presentation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CH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565016"/>
                  </a:ext>
                </a:extLst>
              </a:tr>
              <a:tr h="6577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27.03</a:t>
                      </a:r>
                      <a:endParaRPr lang="en-CH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Module 1 – review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CH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159318"/>
                  </a:ext>
                </a:extLst>
              </a:tr>
              <a:tr h="6183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17.04</a:t>
                      </a:r>
                      <a:endParaRPr lang="en-CH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Module 1 – </a:t>
                      </a:r>
                      <a:br>
                        <a:rPr lang="en-US" sz="1600" kern="100" dirty="0">
                          <a:effectLst/>
                        </a:rPr>
                      </a:br>
                      <a:r>
                        <a:rPr lang="en-US" sz="1600" kern="100" dirty="0">
                          <a:effectLst/>
                        </a:rPr>
                        <a:t>project hand in deadline</a:t>
                      </a:r>
                      <a:endParaRPr lang="en-CH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57561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8F7872-D984-8765-1F28-E49F82BBB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87720"/>
              </p:ext>
            </p:extLst>
          </p:nvPr>
        </p:nvGraphicFramePr>
        <p:xfrm>
          <a:off x="6370321" y="2345013"/>
          <a:ext cx="5120594" cy="330238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223319">
                  <a:extLst>
                    <a:ext uri="{9D8B030D-6E8A-4147-A177-3AD203B41FA5}">
                      <a16:colId xmlns:a16="http://schemas.microsoft.com/office/drawing/2014/main" val="563432475"/>
                    </a:ext>
                  </a:extLst>
                </a:gridCol>
                <a:gridCol w="2897275">
                  <a:extLst>
                    <a:ext uri="{9D8B030D-6E8A-4147-A177-3AD203B41FA5}">
                      <a16:colId xmlns:a16="http://schemas.microsoft.com/office/drawing/2014/main" val="18388463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MODULE 2 – </a:t>
                      </a:r>
                      <a:br>
                        <a:rPr lang="en-US" sz="1600" kern="100" dirty="0">
                          <a:effectLst/>
                        </a:rPr>
                      </a:br>
                      <a:r>
                        <a:rPr lang="en-US" sz="1600" kern="100" dirty="0">
                          <a:effectLst/>
                        </a:rPr>
                        <a:t>TIMESERIES ANALYSIS</a:t>
                      </a:r>
                      <a:endParaRPr lang="en-CH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en-CH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6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08.05</a:t>
                      </a:r>
                      <a:endParaRPr lang="en-CH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Introduction to Git and GitHub</a:t>
                      </a:r>
                      <a:endParaRPr lang="en-CH" sz="12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Introduction to Git project workflow</a:t>
                      </a:r>
                      <a:endParaRPr lang="en-CH" sz="12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Module 2 project presentation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CH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19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15.05</a:t>
                      </a:r>
                      <a:endParaRPr lang="en-CH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Module 2 – review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CH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24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29.05</a:t>
                      </a:r>
                      <a:endParaRPr lang="en-CH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Module 2 – </a:t>
                      </a:r>
                      <a:br>
                        <a:rPr lang="en-US" sz="1600" kern="100" dirty="0">
                          <a:effectLst/>
                        </a:rPr>
                      </a:br>
                      <a:r>
                        <a:rPr lang="en-US" sz="1600" kern="100" dirty="0">
                          <a:effectLst/>
                        </a:rPr>
                        <a:t>project hand in deadline</a:t>
                      </a:r>
                      <a:endParaRPr lang="en-CH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546105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925BD481-AC4F-4C38-0EFF-60F349893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8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Experimental and Computer Laboratory FS2026</a:t>
            </a:r>
            <a:br>
              <a:rPr lang="en-US" b="1" dirty="0"/>
            </a:br>
            <a:r>
              <a:rPr lang="en-US" sz="4000" i="1" dirty="0"/>
              <a:t>Time schedule</a:t>
            </a:r>
            <a:endParaRPr lang="en-CH" i="1" dirty="0"/>
          </a:p>
        </p:txBody>
      </p:sp>
    </p:spTree>
    <p:extLst>
      <p:ext uri="{BB962C8B-B14F-4D97-AF65-F5344CB8AC3E}">
        <p14:creationId xmlns:p14="http://schemas.microsoft.com/office/powerpoint/2010/main" val="2923782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5807-8C53-D0E9-F9EE-D7F8382F20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Module 2 –</a:t>
            </a:r>
            <a:br>
              <a:rPr lang="en-GB" b="1" dirty="0"/>
            </a:br>
            <a:r>
              <a:rPr lang="en-GB" b="1" dirty="0"/>
              <a:t> </a:t>
            </a:r>
            <a:r>
              <a:rPr lang="en-US" b="1" dirty="0"/>
              <a:t>Timeseries analysis</a:t>
            </a:r>
            <a:br>
              <a:rPr lang="en-CH" dirty="0"/>
            </a:b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53B47-E58D-BAF0-0A02-56F011D66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03886"/>
            <a:ext cx="9144000" cy="612153"/>
          </a:xfrm>
        </p:spPr>
        <p:txBody>
          <a:bodyPr/>
          <a:lstStyle/>
          <a:p>
            <a:r>
              <a:rPr lang="en-US" dirty="0"/>
              <a:t>International Relations and Transboundary Cooperation</a:t>
            </a:r>
            <a:endParaRPr lang="en-CH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7C3E3E-D91D-0D23-A56B-56AE23450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407" y="4533072"/>
            <a:ext cx="267652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8923FFD-D8D6-CD93-3B58-84127F798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664" y="4427579"/>
            <a:ext cx="3461336" cy="1819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5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719B9-E114-E419-177F-E96DF923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: Rhein –Ill confluence</a:t>
            </a:r>
            <a:endParaRPr lang="en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F65B5-CFBE-A5AF-16FC-1ADDB1CD8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67" y="2018833"/>
            <a:ext cx="9370828" cy="4474042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C1C60F74-2E24-74D4-147A-A7B2196E7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647" y="2646641"/>
            <a:ext cx="206935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1E834B-441C-33B0-6958-B3082FA12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9016" y="2874933"/>
            <a:ext cx="1259228" cy="66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DE6790-7275-DA49-4AEC-6405926E991A}"/>
              </a:ext>
            </a:extLst>
          </p:cNvPr>
          <p:cNvSpPr/>
          <p:nvPr/>
        </p:nvSpPr>
        <p:spPr>
          <a:xfrm>
            <a:off x="8024037" y="2261191"/>
            <a:ext cx="1070378" cy="3579628"/>
          </a:xfrm>
          <a:custGeom>
            <a:avLst/>
            <a:gdLst>
              <a:gd name="csX0" fmla="*/ 0 w 1070378"/>
              <a:gd name="csY0" fmla="*/ 3579628 h 3579628"/>
              <a:gd name="csX1" fmla="*/ 141768 w 1070378"/>
              <a:gd name="csY1" fmla="*/ 3452037 h 3579628"/>
              <a:gd name="csX2" fmla="*/ 226828 w 1070378"/>
              <a:gd name="csY2" fmla="*/ 3416595 h 3579628"/>
              <a:gd name="csX3" fmla="*/ 283535 w 1070378"/>
              <a:gd name="csY3" fmla="*/ 3352800 h 3579628"/>
              <a:gd name="csX4" fmla="*/ 290623 w 1070378"/>
              <a:gd name="csY4" fmla="*/ 3175590 h 3579628"/>
              <a:gd name="csX5" fmla="*/ 241005 w 1070378"/>
              <a:gd name="csY5" fmla="*/ 2955851 h 3579628"/>
              <a:gd name="csX6" fmla="*/ 148856 w 1070378"/>
              <a:gd name="csY6" fmla="*/ 2707758 h 3579628"/>
              <a:gd name="csX7" fmla="*/ 70884 w 1070378"/>
              <a:gd name="csY7" fmla="*/ 2558902 h 3579628"/>
              <a:gd name="csX8" fmla="*/ 63796 w 1070378"/>
              <a:gd name="csY8" fmla="*/ 2459665 h 3579628"/>
              <a:gd name="csX9" fmla="*/ 77972 w 1070378"/>
              <a:gd name="csY9" fmla="*/ 2289544 h 3579628"/>
              <a:gd name="csX10" fmla="*/ 134679 w 1070378"/>
              <a:gd name="csY10" fmla="*/ 2169042 h 3579628"/>
              <a:gd name="csX11" fmla="*/ 226828 w 1070378"/>
              <a:gd name="csY11" fmla="*/ 1913860 h 3579628"/>
              <a:gd name="csX12" fmla="*/ 311889 w 1070378"/>
              <a:gd name="csY12" fmla="*/ 1722474 h 3579628"/>
              <a:gd name="csX13" fmla="*/ 318977 w 1070378"/>
              <a:gd name="csY13" fmla="*/ 1601972 h 3579628"/>
              <a:gd name="csX14" fmla="*/ 396949 w 1070378"/>
              <a:gd name="csY14" fmla="*/ 1545265 h 3579628"/>
              <a:gd name="csX15" fmla="*/ 453656 w 1070378"/>
              <a:gd name="csY15" fmla="*/ 1453116 h 3579628"/>
              <a:gd name="csX16" fmla="*/ 482010 w 1070378"/>
              <a:gd name="csY16" fmla="*/ 1339702 h 3579628"/>
              <a:gd name="csX17" fmla="*/ 552893 w 1070378"/>
              <a:gd name="csY17" fmla="*/ 1282995 h 3579628"/>
              <a:gd name="csX18" fmla="*/ 659219 w 1070378"/>
              <a:gd name="csY18" fmla="*/ 1197935 h 3579628"/>
              <a:gd name="csX19" fmla="*/ 701749 w 1070378"/>
              <a:gd name="csY19" fmla="*/ 1091609 h 3579628"/>
              <a:gd name="csX20" fmla="*/ 715926 w 1070378"/>
              <a:gd name="csY20" fmla="*/ 942753 h 3579628"/>
              <a:gd name="csX21" fmla="*/ 829340 w 1070378"/>
              <a:gd name="csY21" fmla="*/ 751367 h 3579628"/>
              <a:gd name="csX22" fmla="*/ 942754 w 1070378"/>
              <a:gd name="csY22" fmla="*/ 687572 h 3579628"/>
              <a:gd name="csX23" fmla="*/ 1020726 w 1070378"/>
              <a:gd name="csY23" fmla="*/ 467832 h 3579628"/>
              <a:gd name="csX24" fmla="*/ 1070344 w 1070378"/>
              <a:gd name="csY24" fmla="*/ 311888 h 3579628"/>
              <a:gd name="csX25" fmla="*/ 1013637 w 1070378"/>
              <a:gd name="csY25" fmla="*/ 0 h 3579628"/>
              <a:gd name="csX26" fmla="*/ 1013637 w 1070378"/>
              <a:gd name="csY26" fmla="*/ 0 h 3579628"/>
              <a:gd name="csX27" fmla="*/ 1013637 w 1070378"/>
              <a:gd name="csY27" fmla="*/ 0 h 3579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070378" h="3579628">
                <a:moveTo>
                  <a:pt x="0" y="3579628"/>
                </a:moveTo>
                <a:cubicBezTo>
                  <a:pt x="51981" y="3529418"/>
                  <a:pt x="103963" y="3479209"/>
                  <a:pt x="141768" y="3452037"/>
                </a:cubicBezTo>
                <a:cubicBezTo>
                  <a:pt x="179573" y="3424865"/>
                  <a:pt x="203200" y="3433134"/>
                  <a:pt x="226828" y="3416595"/>
                </a:cubicBezTo>
                <a:cubicBezTo>
                  <a:pt x="250456" y="3400056"/>
                  <a:pt x="272903" y="3392967"/>
                  <a:pt x="283535" y="3352800"/>
                </a:cubicBezTo>
                <a:cubicBezTo>
                  <a:pt x="294167" y="3312633"/>
                  <a:pt x="297711" y="3241748"/>
                  <a:pt x="290623" y="3175590"/>
                </a:cubicBezTo>
                <a:cubicBezTo>
                  <a:pt x="283535" y="3109432"/>
                  <a:pt x="264633" y="3033823"/>
                  <a:pt x="241005" y="2955851"/>
                </a:cubicBezTo>
                <a:cubicBezTo>
                  <a:pt x="217377" y="2877879"/>
                  <a:pt x="177210" y="2773916"/>
                  <a:pt x="148856" y="2707758"/>
                </a:cubicBezTo>
                <a:cubicBezTo>
                  <a:pt x="120503" y="2641600"/>
                  <a:pt x="85061" y="2600251"/>
                  <a:pt x="70884" y="2558902"/>
                </a:cubicBezTo>
                <a:cubicBezTo>
                  <a:pt x="56707" y="2517553"/>
                  <a:pt x="62615" y="2504558"/>
                  <a:pt x="63796" y="2459665"/>
                </a:cubicBezTo>
                <a:cubicBezTo>
                  <a:pt x="64977" y="2414772"/>
                  <a:pt x="66158" y="2337981"/>
                  <a:pt x="77972" y="2289544"/>
                </a:cubicBezTo>
                <a:cubicBezTo>
                  <a:pt x="89786" y="2241107"/>
                  <a:pt x="109870" y="2231656"/>
                  <a:pt x="134679" y="2169042"/>
                </a:cubicBezTo>
                <a:cubicBezTo>
                  <a:pt x="159488" y="2106428"/>
                  <a:pt x="197293" y="1988288"/>
                  <a:pt x="226828" y="1913860"/>
                </a:cubicBezTo>
                <a:cubicBezTo>
                  <a:pt x="256363" y="1839432"/>
                  <a:pt x="296531" y="1774455"/>
                  <a:pt x="311889" y="1722474"/>
                </a:cubicBezTo>
                <a:cubicBezTo>
                  <a:pt x="327247" y="1670493"/>
                  <a:pt x="304800" y="1631507"/>
                  <a:pt x="318977" y="1601972"/>
                </a:cubicBezTo>
                <a:cubicBezTo>
                  <a:pt x="333154" y="1572437"/>
                  <a:pt x="374503" y="1570074"/>
                  <a:pt x="396949" y="1545265"/>
                </a:cubicBezTo>
                <a:cubicBezTo>
                  <a:pt x="419395" y="1520456"/>
                  <a:pt x="439479" y="1487376"/>
                  <a:pt x="453656" y="1453116"/>
                </a:cubicBezTo>
                <a:cubicBezTo>
                  <a:pt x="467833" y="1418856"/>
                  <a:pt x="465471" y="1368055"/>
                  <a:pt x="482010" y="1339702"/>
                </a:cubicBezTo>
                <a:cubicBezTo>
                  <a:pt x="498549" y="1311349"/>
                  <a:pt x="552893" y="1282995"/>
                  <a:pt x="552893" y="1282995"/>
                </a:cubicBezTo>
                <a:cubicBezTo>
                  <a:pt x="582428" y="1259367"/>
                  <a:pt x="634410" y="1229833"/>
                  <a:pt x="659219" y="1197935"/>
                </a:cubicBezTo>
                <a:cubicBezTo>
                  <a:pt x="684028" y="1166037"/>
                  <a:pt x="692298" y="1134139"/>
                  <a:pt x="701749" y="1091609"/>
                </a:cubicBezTo>
                <a:cubicBezTo>
                  <a:pt x="711200" y="1049079"/>
                  <a:pt x="694661" y="999460"/>
                  <a:pt x="715926" y="942753"/>
                </a:cubicBezTo>
                <a:cubicBezTo>
                  <a:pt x="737191" y="886046"/>
                  <a:pt x="791535" y="793897"/>
                  <a:pt x="829340" y="751367"/>
                </a:cubicBezTo>
                <a:cubicBezTo>
                  <a:pt x="867145" y="708837"/>
                  <a:pt x="910856" y="734828"/>
                  <a:pt x="942754" y="687572"/>
                </a:cubicBezTo>
                <a:cubicBezTo>
                  <a:pt x="974652" y="640316"/>
                  <a:pt x="999461" y="530446"/>
                  <a:pt x="1020726" y="467832"/>
                </a:cubicBezTo>
                <a:cubicBezTo>
                  <a:pt x="1041991" y="405218"/>
                  <a:pt x="1071525" y="389860"/>
                  <a:pt x="1070344" y="311888"/>
                </a:cubicBezTo>
                <a:cubicBezTo>
                  <a:pt x="1069163" y="233916"/>
                  <a:pt x="1013637" y="0"/>
                  <a:pt x="1013637" y="0"/>
                </a:cubicBezTo>
                <a:lnTo>
                  <a:pt x="1013637" y="0"/>
                </a:lnTo>
                <a:lnTo>
                  <a:pt x="1013637" y="0"/>
                </a:lnTo>
              </a:path>
            </a:pathLst>
          </a:cu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F3D5451-F7EB-DBA0-CF14-EAA24A1CBFF6}"/>
              </a:ext>
            </a:extLst>
          </p:cNvPr>
          <p:cNvSpPr/>
          <p:nvPr/>
        </p:nvSpPr>
        <p:spPr>
          <a:xfrm>
            <a:off x="8521148" y="3650974"/>
            <a:ext cx="1755913" cy="1331843"/>
          </a:xfrm>
          <a:custGeom>
            <a:avLst/>
            <a:gdLst>
              <a:gd name="csX0" fmla="*/ 0 w 1755913"/>
              <a:gd name="csY0" fmla="*/ 0 h 1331843"/>
              <a:gd name="csX1" fmla="*/ 66261 w 1755913"/>
              <a:gd name="csY1" fmla="*/ 125896 h 1331843"/>
              <a:gd name="csX2" fmla="*/ 119269 w 1755913"/>
              <a:gd name="csY2" fmla="*/ 258417 h 1331843"/>
              <a:gd name="csX3" fmla="*/ 185530 w 1755913"/>
              <a:gd name="csY3" fmla="*/ 417443 h 1331843"/>
              <a:gd name="csX4" fmla="*/ 245165 w 1755913"/>
              <a:gd name="csY4" fmla="*/ 536713 h 1331843"/>
              <a:gd name="csX5" fmla="*/ 298174 w 1755913"/>
              <a:gd name="csY5" fmla="*/ 609600 h 1331843"/>
              <a:gd name="csX6" fmla="*/ 437322 w 1755913"/>
              <a:gd name="csY6" fmla="*/ 649356 h 1331843"/>
              <a:gd name="csX7" fmla="*/ 589722 w 1755913"/>
              <a:gd name="csY7" fmla="*/ 708991 h 1331843"/>
              <a:gd name="csX8" fmla="*/ 662609 w 1755913"/>
              <a:gd name="csY8" fmla="*/ 788504 h 1331843"/>
              <a:gd name="csX9" fmla="*/ 775252 w 1755913"/>
              <a:gd name="csY9" fmla="*/ 834887 h 1331843"/>
              <a:gd name="csX10" fmla="*/ 815009 w 1755913"/>
              <a:gd name="csY10" fmla="*/ 874643 h 1331843"/>
              <a:gd name="csX11" fmla="*/ 993913 w 1755913"/>
              <a:gd name="csY11" fmla="*/ 967409 h 1331843"/>
              <a:gd name="csX12" fmla="*/ 1080052 w 1755913"/>
              <a:gd name="csY12" fmla="*/ 1020417 h 1331843"/>
              <a:gd name="csX13" fmla="*/ 1179443 w 1755913"/>
              <a:gd name="csY13" fmla="*/ 1066800 h 1331843"/>
              <a:gd name="csX14" fmla="*/ 1338469 w 1755913"/>
              <a:gd name="csY14" fmla="*/ 1093304 h 1331843"/>
              <a:gd name="csX15" fmla="*/ 1424609 w 1755913"/>
              <a:gd name="csY15" fmla="*/ 1113183 h 1331843"/>
              <a:gd name="csX16" fmla="*/ 1510748 w 1755913"/>
              <a:gd name="csY16" fmla="*/ 1166191 h 1331843"/>
              <a:gd name="csX17" fmla="*/ 1636643 w 1755913"/>
              <a:gd name="csY17" fmla="*/ 1245704 h 1331843"/>
              <a:gd name="csX18" fmla="*/ 1729409 w 1755913"/>
              <a:gd name="csY18" fmla="*/ 1311965 h 1331843"/>
              <a:gd name="csX19" fmla="*/ 1755913 w 1755913"/>
              <a:gd name="csY19" fmla="*/ 1331843 h 1331843"/>
              <a:gd name="csX20" fmla="*/ 1755913 w 1755913"/>
              <a:gd name="csY20" fmla="*/ 1331843 h 133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755913" h="1331843">
                <a:moveTo>
                  <a:pt x="0" y="0"/>
                </a:moveTo>
                <a:cubicBezTo>
                  <a:pt x="23191" y="41413"/>
                  <a:pt x="46383" y="82827"/>
                  <a:pt x="66261" y="125896"/>
                </a:cubicBezTo>
                <a:cubicBezTo>
                  <a:pt x="86139" y="168965"/>
                  <a:pt x="99391" y="209826"/>
                  <a:pt x="119269" y="258417"/>
                </a:cubicBezTo>
                <a:cubicBezTo>
                  <a:pt x="139147" y="307008"/>
                  <a:pt x="164547" y="371060"/>
                  <a:pt x="185530" y="417443"/>
                </a:cubicBezTo>
                <a:cubicBezTo>
                  <a:pt x="206513" y="463826"/>
                  <a:pt x="226391" y="504687"/>
                  <a:pt x="245165" y="536713"/>
                </a:cubicBezTo>
                <a:cubicBezTo>
                  <a:pt x="263939" y="568739"/>
                  <a:pt x="266148" y="590826"/>
                  <a:pt x="298174" y="609600"/>
                </a:cubicBezTo>
                <a:cubicBezTo>
                  <a:pt x="330200" y="628374"/>
                  <a:pt x="388731" y="632791"/>
                  <a:pt x="437322" y="649356"/>
                </a:cubicBezTo>
                <a:cubicBezTo>
                  <a:pt x="485913" y="665921"/>
                  <a:pt x="552174" y="685800"/>
                  <a:pt x="589722" y="708991"/>
                </a:cubicBezTo>
                <a:cubicBezTo>
                  <a:pt x="627270" y="732182"/>
                  <a:pt x="631687" y="767521"/>
                  <a:pt x="662609" y="788504"/>
                </a:cubicBezTo>
                <a:cubicBezTo>
                  <a:pt x="693531" y="809487"/>
                  <a:pt x="749852" y="820531"/>
                  <a:pt x="775252" y="834887"/>
                </a:cubicBezTo>
                <a:cubicBezTo>
                  <a:pt x="800652" y="849243"/>
                  <a:pt x="778566" y="852556"/>
                  <a:pt x="815009" y="874643"/>
                </a:cubicBezTo>
                <a:cubicBezTo>
                  <a:pt x="851452" y="896730"/>
                  <a:pt x="949739" y="943113"/>
                  <a:pt x="993913" y="967409"/>
                </a:cubicBezTo>
                <a:cubicBezTo>
                  <a:pt x="1038087" y="991705"/>
                  <a:pt x="1049130" y="1003852"/>
                  <a:pt x="1080052" y="1020417"/>
                </a:cubicBezTo>
                <a:cubicBezTo>
                  <a:pt x="1110974" y="1036982"/>
                  <a:pt x="1136374" y="1054652"/>
                  <a:pt x="1179443" y="1066800"/>
                </a:cubicBezTo>
                <a:cubicBezTo>
                  <a:pt x="1222513" y="1078948"/>
                  <a:pt x="1297608" y="1085574"/>
                  <a:pt x="1338469" y="1093304"/>
                </a:cubicBezTo>
                <a:cubicBezTo>
                  <a:pt x="1379330" y="1101034"/>
                  <a:pt x="1395896" y="1101035"/>
                  <a:pt x="1424609" y="1113183"/>
                </a:cubicBezTo>
                <a:cubicBezTo>
                  <a:pt x="1453322" y="1125331"/>
                  <a:pt x="1510748" y="1166191"/>
                  <a:pt x="1510748" y="1166191"/>
                </a:cubicBezTo>
                <a:cubicBezTo>
                  <a:pt x="1546087" y="1188278"/>
                  <a:pt x="1600200" y="1221408"/>
                  <a:pt x="1636643" y="1245704"/>
                </a:cubicBezTo>
                <a:cubicBezTo>
                  <a:pt x="1673086" y="1270000"/>
                  <a:pt x="1709531" y="1297609"/>
                  <a:pt x="1729409" y="1311965"/>
                </a:cubicBezTo>
                <a:cubicBezTo>
                  <a:pt x="1749287" y="1326321"/>
                  <a:pt x="1755913" y="1331843"/>
                  <a:pt x="1755913" y="1331843"/>
                </a:cubicBezTo>
                <a:lnTo>
                  <a:pt x="1755913" y="1331843"/>
                </a:lnTo>
              </a:path>
            </a:pathLst>
          </a:custGeom>
          <a:ln w="38100">
            <a:prstDash val="sys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085220-ED5A-5465-0E4A-E6785F50B917}"/>
              </a:ext>
            </a:extLst>
          </p:cNvPr>
          <p:cNvCxnSpPr>
            <a:cxnSpLocks/>
          </p:cNvCxnSpPr>
          <p:nvPr/>
        </p:nvCxnSpPr>
        <p:spPr>
          <a:xfrm flipH="1" flipV="1">
            <a:off x="8977039" y="4010674"/>
            <a:ext cx="1021591" cy="50894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272072-1D77-2C20-7520-025F8E6EF357}"/>
              </a:ext>
            </a:extLst>
          </p:cNvPr>
          <p:cNvCxnSpPr>
            <a:cxnSpLocks/>
          </p:cNvCxnSpPr>
          <p:nvPr/>
        </p:nvCxnSpPr>
        <p:spPr>
          <a:xfrm flipV="1">
            <a:off x="7711751" y="3205988"/>
            <a:ext cx="349972" cy="80468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B3701FF-BA59-3827-C337-74DFAE80FD44}"/>
              </a:ext>
            </a:extLst>
          </p:cNvPr>
          <p:cNvSpPr txBox="1"/>
          <p:nvPr/>
        </p:nvSpPr>
        <p:spPr>
          <a:xfrm>
            <a:off x="6955287" y="4462683"/>
            <a:ext cx="77525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alpha val="89804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Rhein</a:t>
            </a:r>
            <a:endParaRPr lang="en-CH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B1861-1B32-E717-A13A-C038EDE0B278}"/>
              </a:ext>
            </a:extLst>
          </p:cNvPr>
          <p:cNvSpPr txBox="1"/>
          <p:nvPr/>
        </p:nvSpPr>
        <p:spPr>
          <a:xfrm>
            <a:off x="8750224" y="4710934"/>
            <a:ext cx="77525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alpha val="89804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Ill</a:t>
            </a:r>
            <a:endParaRPr lang="en-CH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2C2D973D-727B-14A8-58A9-A7B472B7E2F7}"/>
              </a:ext>
            </a:extLst>
          </p:cNvPr>
          <p:cNvSpPr/>
          <p:nvPr/>
        </p:nvSpPr>
        <p:spPr>
          <a:xfrm>
            <a:off x="1451113" y="2113722"/>
            <a:ext cx="192157" cy="21866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AD3DBF6-7513-AFCE-BE83-231DDAA77726}"/>
              </a:ext>
            </a:extLst>
          </p:cNvPr>
          <p:cNvSpPr/>
          <p:nvPr/>
        </p:nvSpPr>
        <p:spPr>
          <a:xfrm>
            <a:off x="8126203" y="3322829"/>
            <a:ext cx="775255" cy="931281"/>
          </a:xfrm>
          <a:prstGeom prst="ellipse">
            <a:avLst/>
          </a:prstGeom>
          <a:solidFill>
            <a:srgbClr val="F2CFEE">
              <a:alpha val="30196"/>
            </a:srgb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3614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023BD-3B4A-09C9-6737-43A21A89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5D4C98DC-FFDA-79CE-E21C-52A75E8D3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0792"/>
            <a:ext cx="12192000" cy="2810213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5B78486-F192-E114-FA02-F6065C11E824}"/>
              </a:ext>
            </a:extLst>
          </p:cNvPr>
          <p:cNvCxnSpPr/>
          <p:nvPr/>
        </p:nvCxnSpPr>
        <p:spPr>
          <a:xfrm flipV="1">
            <a:off x="4191000" y="1196340"/>
            <a:ext cx="5013960" cy="1371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A97C95D-F95B-ACEE-7C9B-6E502CB3881C}"/>
              </a:ext>
            </a:extLst>
          </p:cNvPr>
          <p:cNvSpPr txBox="1"/>
          <p:nvPr/>
        </p:nvSpPr>
        <p:spPr>
          <a:xfrm>
            <a:off x="9281160" y="1148834"/>
            <a:ext cx="81534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45 m</a:t>
            </a:r>
            <a:endParaRPr lang="en-CH" b="1" dirty="0">
              <a:solidFill>
                <a:schemeClr val="accent2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489706-9E0A-292E-6114-95FC7BCCA189}"/>
              </a:ext>
            </a:extLst>
          </p:cNvPr>
          <p:cNvCxnSpPr>
            <a:cxnSpLocks/>
          </p:cNvCxnSpPr>
          <p:nvPr/>
        </p:nvCxnSpPr>
        <p:spPr>
          <a:xfrm flipV="1">
            <a:off x="6697980" y="1706880"/>
            <a:ext cx="0" cy="6934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2ABF0A5-39AC-E870-DEAC-CE03EF97720F}"/>
              </a:ext>
            </a:extLst>
          </p:cNvPr>
          <p:cNvSpPr txBox="1"/>
          <p:nvPr/>
        </p:nvSpPr>
        <p:spPr>
          <a:xfrm>
            <a:off x="5775960" y="1931591"/>
            <a:ext cx="815340" cy="369332"/>
          </a:xfrm>
          <a:prstGeom prst="rect">
            <a:avLst/>
          </a:prstGeom>
          <a:solidFill>
            <a:srgbClr val="FBE3D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3.5 m</a:t>
            </a:r>
            <a:endParaRPr lang="en-CH" b="1" dirty="0">
              <a:solidFill>
                <a:schemeClr val="accent2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9053688-A2B1-C100-064B-13E9C315B3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4"/>
          <a:stretch>
            <a:fillRect/>
          </a:stretch>
        </p:blipFill>
        <p:spPr>
          <a:xfrm>
            <a:off x="754380" y="2921485"/>
            <a:ext cx="10858500" cy="39188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2EA9605-F535-68FB-0391-5B6F0C2F3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02138"/>
            <a:ext cx="3924299" cy="1325563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Illspiz</a:t>
            </a:r>
            <a:r>
              <a:rPr lang="en-US" dirty="0">
                <a:solidFill>
                  <a:schemeClr val="bg1"/>
                </a:solidFill>
              </a:rPr>
              <a:t> Kraftwerk</a:t>
            </a:r>
            <a:endParaRPr lang="en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962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4B7A2-5541-826E-169C-A7CF9794C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 – Rhein confluence</a:t>
            </a:r>
            <a:endParaRPr lang="en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CDB82-771D-1439-9EDA-FBD1A3834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43397"/>
            <a:ext cx="10441172" cy="466663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DAAD66-E47C-272B-189A-901F9B23F580}"/>
              </a:ext>
            </a:extLst>
          </p:cNvPr>
          <p:cNvCxnSpPr>
            <a:cxnSpLocks/>
          </p:cNvCxnSpPr>
          <p:nvPr/>
        </p:nvCxnSpPr>
        <p:spPr>
          <a:xfrm flipV="1">
            <a:off x="5340626" y="4742121"/>
            <a:ext cx="493104" cy="64488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9609DC-5A74-DE28-D763-085DC9020A17}"/>
              </a:ext>
            </a:extLst>
          </p:cNvPr>
          <p:cNvCxnSpPr>
            <a:cxnSpLocks/>
          </p:cNvCxnSpPr>
          <p:nvPr/>
        </p:nvCxnSpPr>
        <p:spPr>
          <a:xfrm flipV="1">
            <a:off x="2266121" y="3597965"/>
            <a:ext cx="907774" cy="11148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22280D-9B46-9681-7E7C-B200C664F7AB}"/>
              </a:ext>
            </a:extLst>
          </p:cNvPr>
          <p:cNvCxnSpPr>
            <a:cxnSpLocks/>
          </p:cNvCxnSpPr>
          <p:nvPr/>
        </p:nvCxnSpPr>
        <p:spPr>
          <a:xfrm flipV="1">
            <a:off x="9422295" y="4214191"/>
            <a:ext cx="901148" cy="19762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916BAC5-63E6-E64A-A21B-2EC0568DCC0F}"/>
              </a:ext>
            </a:extLst>
          </p:cNvPr>
          <p:cNvSpPr txBox="1"/>
          <p:nvPr/>
        </p:nvSpPr>
        <p:spPr>
          <a:xfrm>
            <a:off x="1371599" y="3651980"/>
            <a:ext cx="77525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alpha val="89804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Rhein</a:t>
            </a:r>
            <a:endParaRPr lang="en-CH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3E992-6EEC-A895-5F1F-3969C0FEF10F}"/>
              </a:ext>
            </a:extLst>
          </p:cNvPr>
          <p:cNvSpPr txBox="1"/>
          <p:nvPr/>
        </p:nvSpPr>
        <p:spPr>
          <a:xfrm>
            <a:off x="8647041" y="3836646"/>
            <a:ext cx="77525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alpha val="89804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Rhein</a:t>
            </a:r>
            <a:endParaRPr lang="en-CH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E4B2A2-AA52-1E6E-D735-0E2DF9614833}"/>
              </a:ext>
            </a:extLst>
          </p:cNvPr>
          <p:cNvSpPr txBox="1"/>
          <p:nvPr/>
        </p:nvSpPr>
        <p:spPr>
          <a:xfrm>
            <a:off x="4108172" y="5017677"/>
            <a:ext cx="77525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alpha val="89804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Ill</a:t>
            </a:r>
            <a:endParaRPr lang="en-CH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7" name="Graphic 16" descr="Direction outline">
            <a:extLst>
              <a:ext uri="{FF2B5EF4-FFF2-40B4-BE49-F238E27FC236}">
                <a16:creationId xmlns:a16="http://schemas.microsoft.com/office/drawing/2014/main" id="{07AD3FA0-4C47-8AE1-7E4D-E754DABC97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900000">
            <a:off x="10157792" y="2083902"/>
            <a:ext cx="775254" cy="775254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6CBCC2-93DD-FD1C-D939-77EDAD582934}"/>
              </a:ext>
            </a:extLst>
          </p:cNvPr>
          <p:cNvCxnSpPr/>
          <p:nvPr/>
        </p:nvCxnSpPr>
        <p:spPr>
          <a:xfrm>
            <a:off x="9879606" y="6202907"/>
            <a:ext cx="71650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75DCF60-DA72-5629-4E5C-F7634B0C0A87}"/>
              </a:ext>
            </a:extLst>
          </p:cNvPr>
          <p:cNvCxnSpPr/>
          <p:nvPr/>
        </p:nvCxnSpPr>
        <p:spPr>
          <a:xfrm>
            <a:off x="9156362" y="6205181"/>
            <a:ext cx="71650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60166F8-B966-0A64-2CBF-116F67F5FE70}"/>
              </a:ext>
            </a:extLst>
          </p:cNvPr>
          <p:cNvSpPr txBox="1"/>
          <p:nvPr/>
        </p:nvSpPr>
        <p:spPr>
          <a:xfrm>
            <a:off x="9156362" y="5753609"/>
            <a:ext cx="685800" cy="369332"/>
          </a:xfrm>
          <a:prstGeom prst="rect">
            <a:avLst/>
          </a:prstGeom>
          <a:solidFill>
            <a:srgbClr val="FBE3D6">
              <a:alpha val="85098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1km</a:t>
            </a:r>
            <a:endParaRPr lang="en-CH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1EAFA6-339E-84A9-A0EA-6ABA9E33558D}"/>
              </a:ext>
            </a:extLst>
          </p:cNvPr>
          <p:cNvSpPr txBox="1"/>
          <p:nvPr/>
        </p:nvSpPr>
        <p:spPr>
          <a:xfrm>
            <a:off x="9910313" y="5752472"/>
            <a:ext cx="685800" cy="369332"/>
          </a:xfrm>
          <a:prstGeom prst="rect">
            <a:avLst/>
          </a:prstGeom>
          <a:solidFill>
            <a:srgbClr val="FBE3D6">
              <a:alpha val="85098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1km</a:t>
            </a:r>
            <a:endParaRPr lang="en-CH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A9EA4AF-0713-B1DF-960D-555AE27C2D65}"/>
              </a:ext>
            </a:extLst>
          </p:cNvPr>
          <p:cNvGrpSpPr/>
          <p:nvPr/>
        </p:nvGrpSpPr>
        <p:grpSpPr>
          <a:xfrm>
            <a:off x="912628" y="1804768"/>
            <a:ext cx="1693744" cy="1177460"/>
            <a:chOff x="912628" y="1804768"/>
            <a:chExt cx="1693744" cy="1177460"/>
          </a:xfrm>
        </p:grpSpPr>
        <p:pic>
          <p:nvPicPr>
            <p:cNvPr id="2050" name="Picture 2" descr="Planet Labs - Wikipedia">
              <a:extLst>
                <a:ext uri="{FF2B5EF4-FFF2-40B4-BE49-F238E27FC236}">
                  <a16:creationId xmlns:a16="http://schemas.microsoft.com/office/drawing/2014/main" id="{6BD9C39D-0294-7C42-9A0C-232DE71105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628" y="1804768"/>
              <a:ext cx="1693744" cy="8389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E3F7C8A-FE50-D9CD-0E15-F37B29DA113C}"/>
                </a:ext>
              </a:extLst>
            </p:cNvPr>
            <p:cNvSpPr txBox="1"/>
            <p:nvPr/>
          </p:nvSpPr>
          <p:spPr>
            <a:xfrm>
              <a:off x="912628" y="2643674"/>
              <a:ext cx="1693744" cy="33855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19</a:t>
              </a:r>
              <a:r>
                <a:rPr lang="en-US" sz="1600" baseline="30000" dirty="0"/>
                <a:t>th</a:t>
              </a:r>
              <a:r>
                <a:rPr lang="en-US" sz="1600" dirty="0"/>
                <a:t> August 2025</a:t>
              </a:r>
              <a:endParaRPr lang="en-CH" sz="1600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BF33CC8A-C1B2-4B0D-4417-8DD329D15EA8}"/>
              </a:ext>
            </a:extLst>
          </p:cNvPr>
          <p:cNvSpPr txBox="1">
            <a:spLocks/>
          </p:cNvSpPr>
          <p:nvPr/>
        </p:nvSpPr>
        <p:spPr>
          <a:xfrm>
            <a:off x="4198296" y="2161947"/>
            <a:ext cx="4280453" cy="733794"/>
          </a:xfrm>
          <a:prstGeom prst="rect">
            <a:avLst/>
          </a:prstGeom>
          <a:solidFill>
            <a:srgbClr val="CAEEFB">
              <a:alpha val="80000"/>
            </a:srgb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HYDROLOGICAL INFLUENCE</a:t>
            </a:r>
            <a:endParaRPr lang="en-CH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91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E86DD0-5236-BC18-24B2-5148E0BF7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000" y="2226972"/>
            <a:ext cx="9768000" cy="433365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0040250-591F-BB84-F29C-9FFE001B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Ill – Rhein confluence</a:t>
            </a:r>
            <a:endParaRPr lang="en-CH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A7D1C1-2D36-A933-557D-6B7B972103F5}"/>
              </a:ext>
            </a:extLst>
          </p:cNvPr>
          <p:cNvGrpSpPr/>
          <p:nvPr/>
        </p:nvGrpSpPr>
        <p:grpSpPr>
          <a:xfrm>
            <a:off x="9243028" y="2251540"/>
            <a:ext cx="1693744" cy="1177460"/>
            <a:chOff x="912628" y="1804768"/>
            <a:chExt cx="1693744" cy="1177460"/>
          </a:xfrm>
        </p:grpSpPr>
        <p:pic>
          <p:nvPicPr>
            <p:cNvPr id="8" name="Picture 2" descr="Planet Labs - Wikipedia">
              <a:extLst>
                <a:ext uri="{FF2B5EF4-FFF2-40B4-BE49-F238E27FC236}">
                  <a16:creationId xmlns:a16="http://schemas.microsoft.com/office/drawing/2014/main" id="{4303AF8F-9520-653A-9688-887CCFCB5A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628" y="1804768"/>
              <a:ext cx="1693744" cy="8389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C8938A-3D00-399F-95F7-CE5E322A46B3}"/>
                </a:ext>
              </a:extLst>
            </p:cNvPr>
            <p:cNvSpPr txBox="1"/>
            <p:nvPr/>
          </p:nvSpPr>
          <p:spPr>
            <a:xfrm>
              <a:off x="912628" y="2643674"/>
              <a:ext cx="1693744" cy="33855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28</a:t>
              </a:r>
              <a:r>
                <a:rPr lang="en-US" sz="1600" baseline="30000" dirty="0"/>
                <a:t>th</a:t>
              </a:r>
              <a:r>
                <a:rPr lang="en-US" sz="1600" dirty="0"/>
                <a:t> August 2024</a:t>
              </a:r>
              <a:endParaRPr lang="en-CH" sz="1600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807B14-57C8-A026-A3E8-EBFC800D5ED8}"/>
              </a:ext>
            </a:extLst>
          </p:cNvPr>
          <p:cNvCxnSpPr>
            <a:cxnSpLocks/>
          </p:cNvCxnSpPr>
          <p:nvPr/>
        </p:nvCxnSpPr>
        <p:spPr>
          <a:xfrm flipV="1">
            <a:off x="2146853" y="4808837"/>
            <a:ext cx="373147" cy="71294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478CB8-7E25-763F-99C3-193AF68E3347}"/>
              </a:ext>
            </a:extLst>
          </p:cNvPr>
          <p:cNvCxnSpPr>
            <a:cxnSpLocks/>
          </p:cNvCxnSpPr>
          <p:nvPr/>
        </p:nvCxnSpPr>
        <p:spPr>
          <a:xfrm flipV="1">
            <a:off x="1371599" y="3497742"/>
            <a:ext cx="910801" cy="2041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F938EC-C5DD-52BD-F808-A9309A9A9CFE}"/>
              </a:ext>
            </a:extLst>
          </p:cNvPr>
          <p:cNvCxnSpPr>
            <a:cxnSpLocks/>
          </p:cNvCxnSpPr>
          <p:nvPr/>
        </p:nvCxnSpPr>
        <p:spPr>
          <a:xfrm flipV="1">
            <a:off x="9422295" y="4214191"/>
            <a:ext cx="901148" cy="19762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02AC75-D0AE-046D-B416-05781912F679}"/>
              </a:ext>
            </a:extLst>
          </p:cNvPr>
          <p:cNvSpPr txBox="1"/>
          <p:nvPr/>
        </p:nvSpPr>
        <p:spPr>
          <a:xfrm>
            <a:off x="1371599" y="2990927"/>
            <a:ext cx="77525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alpha val="89804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Rhein</a:t>
            </a:r>
            <a:endParaRPr lang="en-CH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E4F8A6-43D7-FE8A-C36E-B0AA54B080CC}"/>
              </a:ext>
            </a:extLst>
          </p:cNvPr>
          <p:cNvSpPr txBox="1"/>
          <p:nvPr/>
        </p:nvSpPr>
        <p:spPr>
          <a:xfrm>
            <a:off x="8647041" y="3836646"/>
            <a:ext cx="77525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alpha val="89804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Rhein</a:t>
            </a:r>
            <a:endParaRPr lang="en-CH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A7BF33-559C-3433-A1F5-1C294C6F6C5E}"/>
              </a:ext>
            </a:extLst>
          </p:cNvPr>
          <p:cNvSpPr txBox="1"/>
          <p:nvPr/>
        </p:nvSpPr>
        <p:spPr>
          <a:xfrm>
            <a:off x="2430572" y="5636877"/>
            <a:ext cx="77525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alpha val="89804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Ill</a:t>
            </a:r>
            <a:endParaRPr lang="en-CH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6" name="Graphic 15" descr="Direction outline">
            <a:extLst>
              <a:ext uri="{FF2B5EF4-FFF2-40B4-BE49-F238E27FC236}">
                <a16:creationId xmlns:a16="http://schemas.microsoft.com/office/drawing/2014/main" id="{3DD8895A-DC33-C026-C089-E356FB8893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00000">
            <a:off x="1371598" y="2180789"/>
            <a:ext cx="775254" cy="775254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51FBA1-762D-B62D-8F21-2EFD7FC4DE2B}"/>
              </a:ext>
            </a:extLst>
          </p:cNvPr>
          <p:cNvCxnSpPr>
            <a:cxnSpLocks/>
          </p:cNvCxnSpPr>
          <p:nvPr/>
        </p:nvCxnSpPr>
        <p:spPr>
          <a:xfrm flipV="1">
            <a:off x="7645836" y="6413962"/>
            <a:ext cx="1597192" cy="72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892AD9D-82A6-4636-65DD-6265EAF7ACC7}"/>
              </a:ext>
            </a:extLst>
          </p:cNvPr>
          <p:cNvSpPr txBox="1"/>
          <p:nvPr/>
        </p:nvSpPr>
        <p:spPr>
          <a:xfrm>
            <a:off x="7821330" y="5955209"/>
            <a:ext cx="1384196" cy="369332"/>
          </a:xfrm>
          <a:prstGeom prst="rect">
            <a:avLst/>
          </a:prstGeom>
          <a:solidFill>
            <a:srgbClr val="FBE3D6">
              <a:alpha val="85098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1km</a:t>
            </a:r>
            <a:endParaRPr lang="en-CH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7A0C6E-6078-1829-D868-837E8AC6A30F}"/>
              </a:ext>
            </a:extLst>
          </p:cNvPr>
          <p:cNvSpPr txBox="1"/>
          <p:nvPr/>
        </p:nvSpPr>
        <p:spPr>
          <a:xfrm>
            <a:off x="9349526" y="5955209"/>
            <a:ext cx="1384196" cy="369332"/>
          </a:xfrm>
          <a:prstGeom prst="rect">
            <a:avLst/>
          </a:prstGeom>
          <a:solidFill>
            <a:srgbClr val="FBE3D6">
              <a:alpha val="85098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1km</a:t>
            </a:r>
            <a:endParaRPr lang="en-CH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EF75EBC-82B1-02AA-1749-4FBCB09E683C}"/>
              </a:ext>
            </a:extLst>
          </p:cNvPr>
          <p:cNvCxnSpPr>
            <a:cxnSpLocks/>
          </p:cNvCxnSpPr>
          <p:nvPr/>
        </p:nvCxnSpPr>
        <p:spPr>
          <a:xfrm flipV="1">
            <a:off x="9243028" y="6406743"/>
            <a:ext cx="1597192" cy="72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8326FD4A-6BB0-882B-7FEF-48B99B646747}"/>
              </a:ext>
            </a:extLst>
          </p:cNvPr>
          <p:cNvSpPr txBox="1">
            <a:spLocks/>
          </p:cNvSpPr>
          <p:nvPr/>
        </p:nvSpPr>
        <p:spPr>
          <a:xfrm>
            <a:off x="3787479" y="2568416"/>
            <a:ext cx="4280453" cy="733794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SEDIMENT INFLUENCE</a:t>
            </a:r>
            <a:endParaRPr lang="en-CH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59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F7935-AC15-ECA3-6269-9FEEC8655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78B94-4135-E591-9CD7-574B24CEE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367"/>
            <a:ext cx="2507974" cy="1325563"/>
          </a:xfrm>
        </p:spPr>
        <p:txBody>
          <a:bodyPr/>
          <a:lstStyle/>
          <a:p>
            <a:r>
              <a:rPr lang="en-US" dirty="0"/>
              <a:t>Dataset</a:t>
            </a:r>
            <a:endParaRPr lang="en-CH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59C1AB7-B498-B496-492B-691055A5EF2E}"/>
              </a:ext>
            </a:extLst>
          </p:cNvPr>
          <p:cNvGrpSpPr/>
          <p:nvPr/>
        </p:nvGrpSpPr>
        <p:grpSpPr>
          <a:xfrm>
            <a:off x="5831010" y="360705"/>
            <a:ext cx="4900784" cy="6132170"/>
            <a:chOff x="5831010" y="360705"/>
            <a:chExt cx="4900784" cy="61321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3AF0354-99D6-1BDC-170D-E88928158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1843"/>
            <a:stretch>
              <a:fillRect/>
            </a:stretch>
          </p:blipFill>
          <p:spPr>
            <a:xfrm>
              <a:off x="5831010" y="360705"/>
              <a:ext cx="4900784" cy="6132170"/>
            </a:xfrm>
            <a:prstGeom prst="rect">
              <a:avLst/>
            </a:prstGeom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8AB5936-D6C8-5F09-39DF-9CC4288E6EDF}"/>
                </a:ext>
              </a:extLst>
            </p:cNvPr>
            <p:cNvSpPr/>
            <p:nvPr/>
          </p:nvSpPr>
          <p:spPr>
            <a:xfrm>
              <a:off x="7020513" y="692883"/>
              <a:ext cx="1467072" cy="4906277"/>
            </a:xfrm>
            <a:custGeom>
              <a:avLst/>
              <a:gdLst>
                <a:gd name="csX0" fmla="*/ 0 w 1070378"/>
                <a:gd name="csY0" fmla="*/ 3579628 h 3579628"/>
                <a:gd name="csX1" fmla="*/ 141768 w 1070378"/>
                <a:gd name="csY1" fmla="*/ 3452037 h 3579628"/>
                <a:gd name="csX2" fmla="*/ 226828 w 1070378"/>
                <a:gd name="csY2" fmla="*/ 3416595 h 3579628"/>
                <a:gd name="csX3" fmla="*/ 283535 w 1070378"/>
                <a:gd name="csY3" fmla="*/ 3352800 h 3579628"/>
                <a:gd name="csX4" fmla="*/ 290623 w 1070378"/>
                <a:gd name="csY4" fmla="*/ 3175590 h 3579628"/>
                <a:gd name="csX5" fmla="*/ 241005 w 1070378"/>
                <a:gd name="csY5" fmla="*/ 2955851 h 3579628"/>
                <a:gd name="csX6" fmla="*/ 148856 w 1070378"/>
                <a:gd name="csY6" fmla="*/ 2707758 h 3579628"/>
                <a:gd name="csX7" fmla="*/ 70884 w 1070378"/>
                <a:gd name="csY7" fmla="*/ 2558902 h 3579628"/>
                <a:gd name="csX8" fmla="*/ 63796 w 1070378"/>
                <a:gd name="csY8" fmla="*/ 2459665 h 3579628"/>
                <a:gd name="csX9" fmla="*/ 77972 w 1070378"/>
                <a:gd name="csY9" fmla="*/ 2289544 h 3579628"/>
                <a:gd name="csX10" fmla="*/ 134679 w 1070378"/>
                <a:gd name="csY10" fmla="*/ 2169042 h 3579628"/>
                <a:gd name="csX11" fmla="*/ 226828 w 1070378"/>
                <a:gd name="csY11" fmla="*/ 1913860 h 3579628"/>
                <a:gd name="csX12" fmla="*/ 311889 w 1070378"/>
                <a:gd name="csY12" fmla="*/ 1722474 h 3579628"/>
                <a:gd name="csX13" fmla="*/ 318977 w 1070378"/>
                <a:gd name="csY13" fmla="*/ 1601972 h 3579628"/>
                <a:gd name="csX14" fmla="*/ 396949 w 1070378"/>
                <a:gd name="csY14" fmla="*/ 1545265 h 3579628"/>
                <a:gd name="csX15" fmla="*/ 453656 w 1070378"/>
                <a:gd name="csY15" fmla="*/ 1453116 h 3579628"/>
                <a:gd name="csX16" fmla="*/ 482010 w 1070378"/>
                <a:gd name="csY16" fmla="*/ 1339702 h 3579628"/>
                <a:gd name="csX17" fmla="*/ 552893 w 1070378"/>
                <a:gd name="csY17" fmla="*/ 1282995 h 3579628"/>
                <a:gd name="csX18" fmla="*/ 659219 w 1070378"/>
                <a:gd name="csY18" fmla="*/ 1197935 h 3579628"/>
                <a:gd name="csX19" fmla="*/ 701749 w 1070378"/>
                <a:gd name="csY19" fmla="*/ 1091609 h 3579628"/>
                <a:gd name="csX20" fmla="*/ 715926 w 1070378"/>
                <a:gd name="csY20" fmla="*/ 942753 h 3579628"/>
                <a:gd name="csX21" fmla="*/ 829340 w 1070378"/>
                <a:gd name="csY21" fmla="*/ 751367 h 3579628"/>
                <a:gd name="csX22" fmla="*/ 942754 w 1070378"/>
                <a:gd name="csY22" fmla="*/ 687572 h 3579628"/>
                <a:gd name="csX23" fmla="*/ 1020726 w 1070378"/>
                <a:gd name="csY23" fmla="*/ 467832 h 3579628"/>
                <a:gd name="csX24" fmla="*/ 1070344 w 1070378"/>
                <a:gd name="csY24" fmla="*/ 311888 h 3579628"/>
                <a:gd name="csX25" fmla="*/ 1013637 w 1070378"/>
                <a:gd name="csY25" fmla="*/ 0 h 3579628"/>
                <a:gd name="csX26" fmla="*/ 1013637 w 1070378"/>
                <a:gd name="csY26" fmla="*/ 0 h 3579628"/>
                <a:gd name="csX27" fmla="*/ 1013637 w 1070378"/>
                <a:gd name="csY27" fmla="*/ 0 h 3579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070378" h="3579628">
                  <a:moveTo>
                    <a:pt x="0" y="3579628"/>
                  </a:moveTo>
                  <a:cubicBezTo>
                    <a:pt x="51981" y="3529418"/>
                    <a:pt x="103963" y="3479209"/>
                    <a:pt x="141768" y="3452037"/>
                  </a:cubicBezTo>
                  <a:cubicBezTo>
                    <a:pt x="179573" y="3424865"/>
                    <a:pt x="203200" y="3433134"/>
                    <a:pt x="226828" y="3416595"/>
                  </a:cubicBezTo>
                  <a:cubicBezTo>
                    <a:pt x="250456" y="3400056"/>
                    <a:pt x="272903" y="3392967"/>
                    <a:pt x="283535" y="3352800"/>
                  </a:cubicBezTo>
                  <a:cubicBezTo>
                    <a:pt x="294167" y="3312633"/>
                    <a:pt x="297711" y="3241748"/>
                    <a:pt x="290623" y="3175590"/>
                  </a:cubicBezTo>
                  <a:cubicBezTo>
                    <a:pt x="283535" y="3109432"/>
                    <a:pt x="264633" y="3033823"/>
                    <a:pt x="241005" y="2955851"/>
                  </a:cubicBezTo>
                  <a:cubicBezTo>
                    <a:pt x="217377" y="2877879"/>
                    <a:pt x="177210" y="2773916"/>
                    <a:pt x="148856" y="2707758"/>
                  </a:cubicBezTo>
                  <a:cubicBezTo>
                    <a:pt x="120503" y="2641600"/>
                    <a:pt x="85061" y="2600251"/>
                    <a:pt x="70884" y="2558902"/>
                  </a:cubicBezTo>
                  <a:cubicBezTo>
                    <a:pt x="56707" y="2517553"/>
                    <a:pt x="62615" y="2504558"/>
                    <a:pt x="63796" y="2459665"/>
                  </a:cubicBezTo>
                  <a:cubicBezTo>
                    <a:pt x="64977" y="2414772"/>
                    <a:pt x="66158" y="2337981"/>
                    <a:pt x="77972" y="2289544"/>
                  </a:cubicBezTo>
                  <a:cubicBezTo>
                    <a:pt x="89786" y="2241107"/>
                    <a:pt x="109870" y="2231656"/>
                    <a:pt x="134679" y="2169042"/>
                  </a:cubicBezTo>
                  <a:cubicBezTo>
                    <a:pt x="159488" y="2106428"/>
                    <a:pt x="197293" y="1988288"/>
                    <a:pt x="226828" y="1913860"/>
                  </a:cubicBezTo>
                  <a:cubicBezTo>
                    <a:pt x="256363" y="1839432"/>
                    <a:pt x="296531" y="1774455"/>
                    <a:pt x="311889" y="1722474"/>
                  </a:cubicBezTo>
                  <a:cubicBezTo>
                    <a:pt x="327247" y="1670493"/>
                    <a:pt x="304800" y="1631507"/>
                    <a:pt x="318977" y="1601972"/>
                  </a:cubicBezTo>
                  <a:cubicBezTo>
                    <a:pt x="333154" y="1572437"/>
                    <a:pt x="374503" y="1570074"/>
                    <a:pt x="396949" y="1545265"/>
                  </a:cubicBezTo>
                  <a:cubicBezTo>
                    <a:pt x="419395" y="1520456"/>
                    <a:pt x="439479" y="1487376"/>
                    <a:pt x="453656" y="1453116"/>
                  </a:cubicBezTo>
                  <a:cubicBezTo>
                    <a:pt x="467833" y="1418856"/>
                    <a:pt x="465471" y="1368055"/>
                    <a:pt x="482010" y="1339702"/>
                  </a:cubicBezTo>
                  <a:cubicBezTo>
                    <a:pt x="498549" y="1311349"/>
                    <a:pt x="552893" y="1282995"/>
                    <a:pt x="552893" y="1282995"/>
                  </a:cubicBezTo>
                  <a:cubicBezTo>
                    <a:pt x="582428" y="1259367"/>
                    <a:pt x="634410" y="1229833"/>
                    <a:pt x="659219" y="1197935"/>
                  </a:cubicBezTo>
                  <a:cubicBezTo>
                    <a:pt x="684028" y="1166037"/>
                    <a:pt x="692298" y="1134139"/>
                    <a:pt x="701749" y="1091609"/>
                  </a:cubicBezTo>
                  <a:cubicBezTo>
                    <a:pt x="711200" y="1049079"/>
                    <a:pt x="694661" y="999460"/>
                    <a:pt x="715926" y="942753"/>
                  </a:cubicBezTo>
                  <a:cubicBezTo>
                    <a:pt x="737191" y="886046"/>
                    <a:pt x="791535" y="793897"/>
                    <a:pt x="829340" y="751367"/>
                  </a:cubicBezTo>
                  <a:cubicBezTo>
                    <a:pt x="867145" y="708837"/>
                    <a:pt x="910856" y="734828"/>
                    <a:pt x="942754" y="687572"/>
                  </a:cubicBezTo>
                  <a:cubicBezTo>
                    <a:pt x="974652" y="640316"/>
                    <a:pt x="999461" y="530446"/>
                    <a:pt x="1020726" y="467832"/>
                  </a:cubicBezTo>
                  <a:cubicBezTo>
                    <a:pt x="1041991" y="405218"/>
                    <a:pt x="1071525" y="389860"/>
                    <a:pt x="1070344" y="311888"/>
                  </a:cubicBezTo>
                  <a:cubicBezTo>
                    <a:pt x="1069163" y="233916"/>
                    <a:pt x="1013637" y="0"/>
                    <a:pt x="1013637" y="0"/>
                  </a:cubicBezTo>
                  <a:lnTo>
                    <a:pt x="1013637" y="0"/>
                  </a:lnTo>
                  <a:lnTo>
                    <a:pt x="1013637" y="0"/>
                  </a:lnTo>
                </a:path>
              </a:pathLst>
            </a:custGeom>
            <a:ln w="5715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C8D9363-D2AE-6357-9C45-07354242BDBA}"/>
                </a:ext>
              </a:extLst>
            </p:cNvPr>
            <p:cNvSpPr/>
            <p:nvPr/>
          </p:nvSpPr>
          <p:spPr>
            <a:xfrm>
              <a:off x="7701859" y="2597735"/>
              <a:ext cx="2406673" cy="1825438"/>
            </a:xfrm>
            <a:custGeom>
              <a:avLst/>
              <a:gdLst>
                <a:gd name="csX0" fmla="*/ 0 w 1755913"/>
                <a:gd name="csY0" fmla="*/ 0 h 1331843"/>
                <a:gd name="csX1" fmla="*/ 66261 w 1755913"/>
                <a:gd name="csY1" fmla="*/ 125896 h 1331843"/>
                <a:gd name="csX2" fmla="*/ 119269 w 1755913"/>
                <a:gd name="csY2" fmla="*/ 258417 h 1331843"/>
                <a:gd name="csX3" fmla="*/ 185530 w 1755913"/>
                <a:gd name="csY3" fmla="*/ 417443 h 1331843"/>
                <a:gd name="csX4" fmla="*/ 245165 w 1755913"/>
                <a:gd name="csY4" fmla="*/ 536713 h 1331843"/>
                <a:gd name="csX5" fmla="*/ 298174 w 1755913"/>
                <a:gd name="csY5" fmla="*/ 609600 h 1331843"/>
                <a:gd name="csX6" fmla="*/ 437322 w 1755913"/>
                <a:gd name="csY6" fmla="*/ 649356 h 1331843"/>
                <a:gd name="csX7" fmla="*/ 589722 w 1755913"/>
                <a:gd name="csY7" fmla="*/ 708991 h 1331843"/>
                <a:gd name="csX8" fmla="*/ 662609 w 1755913"/>
                <a:gd name="csY8" fmla="*/ 788504 h 1331843"/>
                <a:gd name="csX9" fmla="*/ 775252 w 1755913"/>
                <a:gd name="csY9" fmla="*/ 834887 h 1331843"/>
                <a:gd name="csX10" fmla="*/ 815009 w 1755913"/>
                <a:gd name="csY10" fmla="*/ 874643 h 1331843"/>
                <a:gd name="csX11" fmla="*/ 993913 w 1755913"/>
                <a:gd name="csY11" fmla="*/ 967409 h 1331843"/>
                <a:gd name="csX12" fmla="*/ 1080052 w 1755913"/>
                <a:gd name="csY12" fmla="*/ 1020417 h 1331843"/>
                <a:gd name="csX13" fmla="*/ 1179443 w 1755913"/>
                <a:gd name="csY13" fmla="*/ 1066800 h 1331843"/>
                <a:gd name="csX14" fmla="*/ 1338469 w 1755913"/>
                <a:gd name="csY14" fmla="*/ 1093304 h 1331843"/>
                <a:gd name="csX15" fmla="*/ 1424609 w 1755913"/>
                <a:gd name="csY15" fmla="*/ 1113183 h 1331843"/>
                <a:gd name="csX16" fmla="*/ 1510748 w 1755913"/>
                <a:gd name="csY16" fmla="*/ 1166191 h 1331843"/>
                <a:gd name="csX17" fmla="*/ 1636643 w 1755913"/>
                <a:gd name="csY17" fmla="*/ 1245704 h 1331843"/>
                <a:gd name="csX18" fmla="*/ 1729409 w 1755913"/>
                <a:gd name="csY18" fmla="*/ 1311965 h 1331843"/>
                <a:gd name="csX19" fmla="*/ 1755913 w 1755913"/>
                <a:gd name="csY19" fmla="*/ 1331843 h 1331843"/>
                <a:gd name="csX20" fmla="*/ 1755913 w 1755913"/>
                <a:gd name="csY20" fmla="*/ 1331843 h 13318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55913" h="1331843">
                  <a:moveTo>
                    <a:pt x="0" y="0"/>
                  </a:moveTo>
                  <a:cubicBezTo>
                    <a:pt x="23191" y="41413"/>
                    <a:pt x="46383" y="82827"/>
                    <a:pt x="66261" y="125896"/>
                  </a:cubicBezTo>
                  <a:cubicBezTo>
                    <a:pt x="86139" y="168965"/>
                    <a:pt x="99391" y="209826"/>
                    <a:pt x="119269" y="258417"/>
                  </a:cubicBezTo>
                  <a:cubicBezTo>
                    <a:pt x="139147" y="307008"/>
                    <a:pt x="164547" y="371060"/>
                    <a:pt x="185530" y="417443"/>
                  </a:cubicBezTo>
                  <a:cubicBezTo>
                    <a:pt x="206513" y="463826"/>
                    <a:pt x="226391" y="504687"/>
                    <a:pt x="245165" y="536713"/>
                  </a:cubicBezTo>
                  <a:cubicBezTo>
                    <a:pt x="263939" y="568739"/>
                    <a:pt x="266148" y="590826"/>
                    <a:pt x="298174" y="609600"/>
                  </a:cubicBezTo>
                  <a:cubicBezTo>
                    <a:pt x="330200" y="628374"/>
                    <a:pt x="388731" y="632791"/>
                    <a:pt x="437322" y="649356"/>
                  </a:cubicBezTo>
                  <a:cubicBezTo>
                    <a:pt x="485913" y="665921"/>
                    <a:pt x="552174" y="685800"/>
                    <a:pt x="589722" y="708991"/>
                  </a:cubicBezTo>
                  <a:cubicBezTo>
                    <a:pt x="627270" y="732182"/>
                    <a:pt x="631687" y="767521"/>
                    <a:pt x="662609" y="788504"/>
                  </a:cubicBezTo>
                  <a:cubicBezTo>
                    <a:pt x="693531" y="809487"/>
                    <a:pt x="749852" y="820531"/>
                    <a:pt x="775252" y="834887"/>
                  </a:cubicBezTo>
                  <a:cubicBezTo>
                    <a:pt x="800652" y="849243"/>
                    <a:pt x="778566" y="852556"/>
                    <a:pt x="815009" y="874643"/>
                  </a:cubicBezTo>
                  <a:cubicBezTo>
                    <a:pt x="851452" y="896730"/>
                    <a:pt x="949739" y="943113"/>
                    <a:pt x="993913" y="967409"/>
                  </a:cubicBezTo>
                  <a:cubicBezTo>
                    <a:pt x="1038087" y="991705"/>
                    <a:pt x="1049130" y="1003852"/>
                    <a:pt x="1080052" y="1020417"/>
                  </a:cubicBezTo>
                  <a:cubicBezTo>
                    <a:pt x="1110974" y="1036982"/>
                    <a:pt x="1136374" y="1054652"/>
                    <a:pt x="1179443" y="1066800"/>
                  </a:cubicBezTo>
                  <a:cubicBezTo>
                    <a:pt x="1222513" y="1078948"/>
                    <a:pt x="1297608" y="1085574"/>
                    <a:pt x="1338469" y="1093304"/>
                  </a:cubicBezTo>
                  <a:cubicBezTo>
                    <a:pt x="1379330" y="1101034"/>
                    <a:pt x="1395896" y="1101035"/>
                    <a:pt x="1424609" y="1113183"/>
                  </a:cubicBezTo>
                  <a:cubicBezTo>
                    <a:pt x="1453322" y="1125331"/>
                    <a:pt x="1510748" y="1166191"/>
                    <a:pt x="1510748" y="1166191"/>
                  </a:cubicBezTo>
                  <a:cubicBezTo>
                    <a:pt x="1546087" y="1188278"/>
                    <a:pt x="1600200" y="1221408"/>
                    <a:pt x="1636643" y="1245704"/>
                  </a:cubicBezTo>
                  <a:cubicBezTo>
                    <a:pt x="1673086" y="1270000"/>
                    <a:pt x="1709531" y="1297609"/>
                    <a:pt x="1729409" y="1311965"/>
                  </a:cubicBezTo>
                  <a:cubicBezTo>
                    <a:pt x="1749287" y="1326321"/>
                    <a:pt x="1755913" y="1331843"/>
                    <a:pt x="1755913" y="1331843"/>
                  </a:cubicBezTo>
                  <a:lnTo>
                    <a:pt x="1755913" y="1331843"/>
                  </a:lnTo>
                </a:path>
              </a:pathLst>
            </a:custGeom>
            <a:ln w="38100">
              <a:prstDash val="sys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0B1E249-5DB3-8CF7-F524-5B95BC1476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6708" y="3090744"/>
              <a:ext cx="1400204" cy="69756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1DD58CE-C2EC-06EA-BE2D-EB182F25DD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491" y="1987832"/>
              <a:ext cx="479675" cy="110291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0F64E89-CC51-1C4D-8E50-F70CD41C08A1}"/>
                </a:ext>
              </a:extLst>
            </p:cNvPr>
            <p:cNvSpPr txBox="1"/>
            <p:nvPr/>
          </p:nvSpPr>
          <p:spPr>
            <a:xfrm>
              <a:off x="6131616" y="3510454"/>
              <a:ext cx="78723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>
                  <a:alpha val="89804"/>
                </a:srgb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chemeClr val="accent4">
                      <a:lumMod val="50000"/>
                    </a:schemeClr>
                  </a:solidFill>
                </a:rPr>
                <a:t>Rhein</a:t>
              </a:r>
              <a:endParaRPr lang="en-CH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42B9B0A-C7AD-6903-8452-9ABCF3BD8C2E}"/>
                </a:ext>
              </a:extLst>
            </p:cNvPr>
            <p:cNvSpPr txBox="1"/>
            <p:nvPr/>
          </p:nvSpPr>
          <p:spPr>
            <a:xfrm>
              <a:off x="8213400" y="4050502"/>
              <a:ext cx="751696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>
                  <a:alpha val="89804"/>
                </a:srgb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chemeClr val="accent4">
                      <a:lumMod val="50000"/>
                    </a:schemeClr>
                  </a:solidFill>
                </a:rPr>
                <a:t>Ill</a:t>
              </a:r>
              <a:endParaRPr lang="en-CH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50B5CDF-7076-1BF6-11CF-09A99718C267}"/>
                </a:ext>
              </a:extLst>
            </p:cNvPr>
            <p:cNvSpPr/>
            <p:nvPr/>
          </p:nvSpPr>
          <p:spPr>
            <a:xfrm>
              <a:off x="8326708" y="1156855"/>
              <a:ext cx="214619" cy="187036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164C6F8-4B56-4192-4CDE-4E90A0A88180}"/>
                </a:ext>
              </a:extLst>
            </p:cNvPr>
            <p:cNvSpPr/>
            <p:nvPr/>
          </p:nvSpPr>
          <p:spPr>
            <a:xfrm>
              <a:off x="7790769" y="2903707"/>
              <a:ext cx="214619" cy="187036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21E52E-8ED7-2CF4-7140-3DB2812B26AE}"/>
                </a:ext>
              </a:extLst>
            </p:cNvPr>
            <p:cNvSpPr txBox="1"/>
            <p:nvPr/>
          </p:nvSpPr>
          <p:spPr>
            <a:xfrm>
              <a:off x="8261669" y="2597735"/>
              <a:ext cx="1090149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85098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Gisingen</a:t>
              </a:r>
              <a:endParaRPr lang="en-CH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22B693-C0F2-55CA-14EB-3C0BF287AB99}"/>
                </a:ext>
              </a:extLst>
            </p:cNvPr>
            <p:cNvSpPr txBox="1"/>
            <p:nvPr/>
          </p:nvSpPr>
          <p:spPr>
            <a:xfrm>
              <a:off x="8636763" y="1086168"/>
              <a:ext cx="1345437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85098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Diepoldsau</a:t>
              </a:r>
              <a:endParaRPr lang="en-CH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A5ADB9A-E594-1EDF-1E12-67B9B1F9EE04}"/>
              </a:ext>
            </a:extLst>
          </p:cNvPr>
          <p:cNvSpPr txBox="1"/>
          <p:nvPr/>
        </p:nvSpPr>
        <p:spPr>
          <a:xfrm>
            <a:off x="390244" y="1955008"/>
            <a:ext cx="5060026" cy="2943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GB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Gisingen</a:t>
            </a:r>
            <a:r>
              <a:rPr lang="en-GB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CH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GB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2003-2021: C suspended sediment concentration (g/L – 15min) </a:t>
            </a:r>
            <a:endParaRPr lang="en-CH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1976-2013: Q discharge (m</a:t>
            </a:r>
            <a:r>
              <a:rPr lang="en-US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/s </a:t>
            </a:r>
            <a:r>
              <a:rPr lang="en-GB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15min)</a:t>
            </a:r>
            <a:endParaRPr lang="en-CH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15000"/>
              </a:lnSpc>
              <a:buNone/>
            </a:pPr>
            <a:r>
              <a:rPr lang="en-US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CH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GB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Diepoldsau, Rietbrücke</a:t>
            </a:r>
            <a:endParaRPr lang="en-CH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GB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2012-2025: C suspended sediment concentration (g/L – 10 min)</a:t>
            </a:r>
            <a:endParaRPr lang="en-CH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1984-2025: Q discharge (m</a:t>
            </a:r>
            <a:r>
              <a:rPr lang="en-US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/s – 10 min) </a:t>
            </a:r>
            <a:endParaRPr lang="en-CH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225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E7DB-C020-2383-D5FF-9177AE6F5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AC36-E26E-3221-8BF9-6CF9934A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41" y="199757"/>
            <a:ext cx="362613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Module 2:</a:t>
            </a:r>
            <a:br>
              <a:rPr lang="en-US" sz="4000" dirty="0"/>
            </a:br>
            <a:r>
              <a:rPr lang="en-US" sz="3200" dirty="0"/>
              <a:t>timeseries analysis</a:t>
            </a:r>
            <a:endParaRPr lang="en-CH" sz="4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3C77CE7-F893-BAE5-086C-0C0158BF0338}"/>
              </a:ext>
            </a:extLst>
          </p:cNvPr>
          <p:cNvGrpSpPr/>
          <p:nvPr/>
        </p:nvGrpSpPr>
        <p:grpSpPr>
          <a:xfrm>
            <a:off x="6722550" y="362915"/>
            <a:ext cx="4900784" cy="6132170"/>
            <a:chOff x="5831010" y="360705"/>
            <a:chExt cx="4900784" cy="61321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F7C178-61F5-2B85-51EA-8936F3AF0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1843"/>
            <a:stretch>
              <a:fillRect/>
            </a:stretch>
          </p:blipFill>
          <p:spPr>
            <a:xfrm>
              <a:off x="5831010" y="360705"/>
              <a:ext cx="4900784" cy="6132170"/>
            </a:xfrm>
            <a:prstGeom prst="rect">
              <a:avLst/>
            </a:prstGeom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533947D-154E-9FCA-4885-191C5B99AE43}"/>
                </a:ext>
              </a:extLst>
            </p:cNvPr>
            <p:cNvSpPr/>
            <p:nvPr/>
          </p:nvSpPr>
          <p:spPr>
            <a:xfrm>
              <a:off x="7020513" y="692883"/>
              <a:ext cx="1467072" cy="4906277"/>
            </a:xfrm>
            <a:custGeom>
              <a:avLst/>
              <a:gdLst>
                <a:gd name="csX0" fmla="*/ 0 w 1070378"/>
                <a:gd name="csY0" fmla="*/ 3579628 h 3579628"/>
                <a:gd name="csX1" fmla="*/ 141768 w 1070378"/>
                <a:gd name="csY1" fmla="*/ 3452037 h 3579628"/>
                <a:gd name="csX2" fmla="*/ 226828 w 1070378"/>
                <a:gd name="csY2" fmla="*/ 3416595 h 3579628"/>
                <a:gd name="csX3" fmla="*/ 283535 w 1070378"/>
                <a:gd name="csY3" fmla="*/ 3352800 h 3579628"/>
                <a:gd name="csX4" fmla="*/ 290623 w 1070378"/>
                <a:gd name="csY4" fmla="*/ 3175590 h 3579628"/>
                <a:gd name="csX5" fmla="*/ 241005 w 1070378"/>
                <a:gd name="csY5" fmla="*/ 2955851 h 3579628"/>
                <a:gd name="csX6" fmla="*/ 148856 w 1070378"/>
                <a:gd name="csY6" fmla="*/ 2707758 h 3579628"/>
                <a:gd name="csX7" fmla="*/ 70884 w 1070378"/>
                <a:gd name="csY7" fmla="*/ 2558902 h 3579628"/>
                <a:gd name="csX8" fmla="*/ 63796 w 1070378"/>
                <a:gd name="csY8" fmla="*/ 2459665 h 3579628"/>
                <a:gd name="csX9" fmla="*/ 77972 w 1070378"/>
                <a:gd name="csY9" fmla="*/ 2289544 h 3579628"/>
                <a:gd name="csX10" fmla="*/ 134679 w 1070378"/>
                <a:gd name="csY10" fmla="*/ 2169042 h 3579628"/>
                <a:gd name="csX11" fmla="*/ 226828 w 1070378"/>
                <a:gd name="csY11" fmla="*/ 1913860 h 3579628"/>
                <a:gd name="csX12" fmla="*/ 311889 w 1070378"/>
                <a:gd name="csY12" fmla="*/ 1722474 h 3579628"/>
                <a:gd name="csX13" fmla="*/ 318977 w 1070378"/>
                <a:gd name="csY13" fmla="*/ 1601972 h 3579628"/>
                <a:gd name="csX14" fmla="*/ 396949 w 1070378"/>
                <a:gd name="csY14" fmla="*/ 1545265 h 3579628"/>
                <a:gd name="csX15" fmla="*/ 453656 w 1070378"/>
                <a:gd name="csY15" fmla="*/ 1453116 h 3579628"/>
                <a:gd name="csX16" fmla="*/ 482010 w 1070378"/>
                <a:gd name="csY16" fmla="*/ 1339702 h 3579628"/>
                <a:gd name="csX17" fmla="*/ 552893 w 1070378"/>
                <a:gd name="csY17" fmla="*/ 1282995 h 3579628"/>
                <a:gd name="csX18" fmla="*/ 659219 w 1070378"/>
                <a:gd name="csY18" fmla="*/ 1197935 h 3579628"/>
                <a:gd name="csX19" fmla="*/ 701749 w 1070378"/>
                <a:gd name="csY19" fmla="*/ 1091609 h 3579628"/>
                <a:gd name="csX20" fmla="*/ 715926 w 1070378"/>
                <a:gd name="csY20" fmla="*/ 942753 h 3579628"/>
                <a:gd name="csX21" fmla="*/ 829340 w 1070378"/>
                <a:gd name="csY21" fmla="*/ 751367 h 3579628"/>
                <a:gd name="csX22" fmla="*/ 942754 w 1070378"/>
                <a:gd name="csY22" fmla="*/ 687572 h 3579628"/>
                <a:gd name="csX23" fmla="*/ 1020726 w 1070378"/>
                <a:gd name="csY23" fmla="*/ 467832 h 3579628"/>
                <a:gd name="csX24" fmla="*/ 1070344 w 1070378"/>
                <a:gd name="csY24" fmla="*/ 311888 h 3579628"/>
                <a:gd name="csX25" fmla="*/ 1013637 w 1070378"/>
                <a:gd name="csY25" fmla="*/ 0 h 3579628"/>
                <a:gd name="csX26" fmla="*/ 1013637 w 1070378"/>
                <a:gd name="csY26" fmla="*/ 0 h 3579628"/>
                <a:gd name="csX27" fmla="*/ 1013637 w 1070378"/>
                <a:gd name="csY27" fmla="*/ 0 h 3579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070378" h="3579628">
                  <a:moveTo>
                    <a:pt x="0" y="3579628"/>
                  </a:moveTo>
                  <a:cubicBezTo>
                    <a:pt x="51981" y="3529418"/>
                    <a:pt x="103963" y="3479209"/>
                    <a:pt x="141768" y="3452037"/>
                  </a:cubicBezTo>
                  <a:cubicBezTo>
                    <a:pt x="179573" y="3424865"/>
                    <a:pt x="203200" y="3433134"/>
                    <a:pt x="226828" y="3416595"/>
                  </a:cubicBezTo>
                  <a:cubicBezTo>
                    <a:pt x="250456" y="3400056"/>
                    <a:pt x="272903" y="3392967"/>
                    <a:pt x="283535" y="3352800"/>
                  </a:cubicBezTo>
                  <a:cubicBezTo>
                    <a:pt x="294167" y="3312633"/>
                    <a:pt x="297711" y="3241748"/>
                    <a:pt x="290623" y="3175590"/>
                  </a:cubicBezTo>
                  <a:cubicBezTo>
                    <a:pt x="283535" y="3109432"/>
                    <a:pt x="264633" y="3033823"/>
                    <a:pt x="241005" y="2955851"/>
                  </a:cubicBezTo>
                  <a:cubicBezTo>
                    <a:pt x="217377" y="2877879"/>
                    <a:pt x="177210" y="2773916"/>
                    <a:pt x="148856" y="2707758"/>
                  </a:cubicBezTo>
                  <a:cubicBezTo>
                    <a:pt x="120503" y="2641600"/>
                    <a:pt x="85061" y="2600251"/>
                    <a:pt x="70884" y="2558902"/>
                  </a:cubicBezTo>
                  <a:cubicBezTo>
                    <a:pt x="56707" y="2517553"/>
                    <a:pt x="62615" y="2504558"/>
                    <a:pt x="63796" y="2459665"/>
                  </a:cubicBezTo>
                  <a:cubicBezTo>
                    <a:pt x="64977" y="2414772"/>
                    <a:pt x="66158" y="2337981"/>
                    <a:pt x="77972" y="2289544"/>
                  </a:cubicBezTo>
                  <a:cubicBezTo>
                    <a:pt x="89786" y="2241107"/>
                    <a:pt x="109870" y="2231656"/>
                    <a:pt x="134679" y="2169042"/>
                  </a:cubicBezTo>
                  <a:cubicBezTo>
                    <a:pt x="159488" y="2106428"/>
                    <a:pt x="197293" y="1988288"/>
                    <a:pt x="226828" y="1913860"/>
                  </a:cubicBezTo>
                  <a:cubicBezTo>
                    <a:pt x="256363" y="1839432"/>
                    <a:pt x="296531" y="1774455"/>
                    <a:pt x="311889" y="1722474"/>
                  </a:cubicBezTo>
                  <a:cubicBezTo>
                    <a:pt x="327247" y="1670493"/>
                    <a:pt x="304800" y="1631507"/>
                    <a:pt x="318977" y="1601972"/>
                  </a:cubicBezTo>
                  <a:cubicBezTo>
                    <a:pt x="333154" y="1572437"/>
                    <a:pt x="374503" y="1570074"/>
                    <a:pt x="396949" y="1545265"/>
                  </a:cubicBezTo>
                  <a:cubicBezTo>
                    <a:pt x="419395" y="1520456"/>
                    <a:pt x="439479" y="1487376"/>
                    <a:pt x="453656" y="1453116"/>
                  </a:cubicBezTo>
                  <a:cubicBezTo>
                    <a:pt x="467833" y="1418856"/>
                    <a:pt x="465471" y="1368055"/>
                    <a:pt x="482010" y="1339702"/>
                  </a:cubicBezTo>
                  <a:cubicBezTo>
                    <a:pt x="498549" y="1311349"/>
                    <a:pt x="552893" y="1282995"/>
                    <a:pt x="552893" y="1282995"/>
                  </a:cubicBezTo>
                  <a:cubicBezTo>
                    <a:pt x="582428" y="1259367"/>
                    <a:pt x="634410" y="1229833"/>
                    <a:pt x="659219" y="1197935"/>
                  </a:cubicBezTo>
                  <a:cubicBezTo>
                    <a:pt x="684028" y="1166037"/>
                    <a:pt x="692298" y="1134139"/>
                    <a:pt x="701749" y="1091609"/>
                  </a:cubicBezTo>
                  <a:cubicBezTo>
                    <a:pt x="711200" y="1049079"/>
                    <a:pt x="694661" y="999460"/>
                    <a:pt x="715926" y="942753"/>
                  </a:cubicBezTo>
                  <a:cubicBezTo>
                    <a:pt x="737191" y="886046"/>
                    <a:pt x="791535" y="793897"/>
                    <a:pt x="829340" y="751367"/>
                  </a:cubicBezTo>
                  <a:cubicBezTo>
                    <a:pt x="867145" y="708837"/>
                    <a:pt x="910856" y="734828"/>
                    <a:pt x="942754" y="687572"/>
                  </a:cubicBezTo>
                  <a:cubicBezTo>
                    <a:pt x="974652" y="640316"/>
                    <a:pt x="999461" y="530446"/>
                    <a:pt x="1020726" y="467832"/>
                  </a:cubicBezTo>
                  <a:cubicBezTo>
                    <a:pt x="1041991" y="405218"/>
                    <a:pt x="1071525" y="389860"/>
                    <a:pt x="1070344" y="311888"/>
                  </a:cubicBezTo>
                  <a:cubicBezTo>
                    <a:pt x="1069163" y="233916"/>
                    <a:pt x="1013637" y="0"/>
                    <a:pt x="1013637" y="0"/>
                  </a:cubicBezTo>
                  <a:lnTo>
                    <a:pt x="1013637" y="0"/>
                  </a:lnTo>
                  <a:lnTo>
                    <a:pt x="1013637" y="0"/>
                  </a:lnTo>
                </a:path>
              </a:pathLst>
            </a:custGeom>
            <a:ln w="5715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3A8F735-A486-94EE-1954-7EB064510C20}"/>
                </a:ext>
              </a:extLst>
            </p:cNvPr>
            <p:cNvSpPr/>
            <p:nvPr/>
          </p:nvSpPr>
          <p:spPr>
            <a:xfrm>
              <a:off x="7701859" y="2597735"/>
              <a:ext cx="2406673" cy="1825438"/>
            </a:xfrm>
            <a:custGeom>
              <a:avLst/>
              <a:gdLst>
                <a:gd name="csX0" fmla="*/ 0 w 1755913"/>
                <a:gd name="csY0" fmla="*/ 0 h 1331843"/>
                <a:gd name="csX1" fmla="*/ 66261 w 1755913"/>
                <a:gd name="csY1" fmla="*/ 125896 h 1331843"/>
                <a:gd name="csX2" fmla="*/ 119269 w 1755913"/>
                <a:gd name="csY2" fmla="*/ 258417 h 1331843"/>
                <a:gd name="csX3" fmla="*/ 185530 w 1755913"/>
                <a:gd name="csY3" fmla="*/ 417443 h 1331843"/>
                <a:gd name="csX4" fmla="*/ 245165 w 1755913"/>
                <a:gd name="csY4" fmla="*/ 536713 h 1331843"/>
                <a:gd name="csX5" fmla="*/ 298174 w 1755913"/>
                <a:gd name="csY5" fmla="*/ 609600 h 1331843"/>
                <a:gd name="csX6" fmla="*/ 437322 w 1755913"/>
                <a:gd name="csY6" fmla="*/ 649356 h 1331843"/>
                <a:gd name="csX7" fmla="*/ 589722 w 1755913"/>
                <a:gd name="csY7" fmla="*/ 708991 h 1331843"/>
                <a:gd name="csX8" fmla="*/ 662609 w 1755913"/>
                <a:gd name="csY8" fmla="*/ 788504 h 1331843"/>
                <a:gd name="csX9" fmla="*/ 775252 w 1755913"/>
                <a:gd name="csY9" fmla="*/ 834887 h 1331843"/>
                <a:gd name="csX10" fmla="*/ 815009 w 1755913"/>
                <a:gd name="csY10" fmla="*/ 874643 h 1331843"/>
                <a:gd name="csX11" fmla="*/ 993913 w 1755913"/>
                <a:gd name="csY11" fmla="*/ 967409 h 1331843"/>
                <a:gd name="csX12" fmla="*/ 1080052 w 1755913"/>
                <a:gd name="csY12" fmla="*/ 1020417 h 1331843"/>
                <a:gd name="csX13" fmla="*/ 1179443 w 1755913"/>
                <a:gd name="csY13" fmla="*/ 1066800 h 1331843"/>
                <a:gd name="csX14" fmla="*/ 1338469 w 1755913"/>
                <a:gd name="csY14" fmla="*/ 1093304 h 1331843"/>
                <a:gd name="csX15" fmla="*/ 1424609 w 1755913"/>
                <a:gd name="csY15" fmla="*/ 1113183 h 1331843"/>
                <a:gd name="csX16" fmla="*/ 1510748 w 1755913"/>
                <a:gd name="csY16" fmla="*/ 1166191 h 1331843"/>
                <a:gd name="csX17" fmla="*/ 1636643 w 1755913"/>
                <a:gd name="csY17" fmla="*/ 1245704 h 1331843"/>
                <a:gd name="csX18" fmla="*/ 1729409 w 1755913"/>
                <a:gd name="csY18" fmla="*/ 1311965 h 1331843"/>
                <a:gd name="csX19" fmla="*/ 1755913 w 1755913"/>
                <a:gd name="csY19" fmla="*/ 1331843 h 1331843"/>
                <a:gd name="csX20" fmla="*/ 1755913 w 1755913"/>
                <a:gd name="csY20" fmla="*/ 1331843 h 13318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55913" h="1331843">
                  <a:moveTo>
                    <a:pt x="0" y="0"/>
                  </a:moveTo>
                  <a:cubicBezTo>
                    <a:pt x="23191" y="41413"/>
                    <a:pt x="46383" y="82827"/>
                    <a:pt x="66261" y="125896"/>
                  </a:cubicBezTo>
                  <a:cubicBezTo>
                    <a:pt x="86139" y="168965"/>
                    <a:pt x="99391" y="209826"/>
                    <a:pt x="119269" y="258417"/>
                  </a:cubicBezTo>
                  <a:cubicBezTo>
                    <a:pt x="139147" y="307008"/>
                    <a:pt x="164547" y="371060"/>
                    <a:pt x="185530" y="417443"/>
                  </a:cubicBezTo>
                  <a:cubicBezTo>
                    <a:pt x="206513" y="463826"/>
                    <a:pt x="226391" y="504687"/>
                    <a:pt x="245165" y="536713"/>
                  </a:cubicBezTo>
                  <a:cubicBezTo>
                    <a:pt x="263939" y="568739"/>
                    <a:pt x="266148" y="590826"/>
                    <a:pt x="298174" y="609600"/>
                  </a:cubicBezTo>
                  <a:cubicBezTo>
                    <a:pt x="330200" y="628374"/>
                    <a:pt x="388731" y="632791"/>
                    <a:pt x="437322" y="649356"/>
                  </a:cubicBezTo>
                  <a:cubicBezTo>
                    <a:pt x="485913" y="665921"/>
                    <a:pt x="552174" y="685800"/>
                    <a:pt x="589722" y="708991"/>
                  </a:cubicBezTo>
                  <a:cubicBezTo>
                    <a:pt x="627270" y="732182"/>
                    <a:pt x="631687" y="767521"/>
                    <a:pt x="662609" y="788504"/>
                  </a:cubicBezTo>
                  <a:cubicBezTo>
                    <a:pt x="693531" y="809487"/>
                    <a:pt x="749852" y="820531"/>
                    <a:pt x="775252" y="834887"/>
                  </a:cubicBezTo>
                  <a:cubicBezTo>
                    <a:pt x="800652" y="849243"/>
                    <a:pt x="778566" y="852556"/>
                    <a:pt x="815009" y="874643"/>
                  </a:cubicBezTo>
                  <a:cubicBezTo>
                    <a:pt x="851452" y="896730"/>
                    <a:pt x="949739" y="943113"/>
                    <a:pt x="993913" y="967409"/>
                  </a:cubicBezTo>
                  <a:cubicBezTo>
                    <a:pt x="1038087" y="991705"/>
                    <a:pt x="1049130" y="1003852"/>
                    <a:pt x="1080052" y="1020417"/>
                  </a:cubicBezTo>
                  <a:cubicBezTo>
                    <a:pt x="1110974" y="1036982"/>
                    <a:pt x="1136374" y="1054652"/>
                    <a:pt x="1179443" y="1066800"/>
                  </a:cubicBezTo>
                  <a:cubicBezTo>
                    <a:pt x="1222513" y="1078948"/>
                    <a:pt x="1297608" y="1085574"/>
                    <a:pt x="1338469" y="1093304"/>
                  </a:cubicBezTo>
                  <a:cubicBezTo>
                    <a:pt x="1379330" y="1101034"/>
                    <a:pt x="1395896" y="1101035"/>
                    <a:pt x="1424609" y="1113183"/>
                  </a:cubicBezTo>
                  <a:cubicBezTo>
                    <a:pt x="1453322" y="1125331"/>
                    <a:pt x="1510748" y="1166191"/>
                    <a:pt x="1510748" y="1166191"/>
                  </a:cubicBezTo>
                  <a:cubicBezTo>
                    <a:pt x="1546087" y="1188278"/>
                    <a:pt x="1600200" y="1221408"/>
                    <a:pt x="1636643" y="1245704"/>
                  </a:cubicBezTo>
                  <a:cubicBezTo>
                    <a:pt x="1673086" y="1270000"/>
                    <a:pt x="1709531" y="1297609"/>
                    <a:pt x="1729409" y="1311965"/>
                  </a:cubicBezTo>
                  <a:cubicBezTo>
                    <a:pt x="1749287" y="1326321"/>
                    <a:pt x="1755913" y="1331843"/>
                    <a:pt x="1755913" y="1331843"/>
                  </a:cubicBezTo>
                  <a:lnTo>
                    <a:pt x="1755913" y="1331843"/>
                  </a:lnTo>
                </a:path>
              </a:pathLst>
            </a:custGeom>
            <a:ln w="38100">
              <a:prstDash val="sys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47B2472-86E1-B75F-1F39-3AFDC4BBB0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6708" y="3090744"/>
              <a:ext cx="1400204" cy="69756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1B6C624-5A51-9F4C-E3C8-3794DC72E1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491" y="1987832"/>
              <a:ext cx="479675" cy="110291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C99C7E-CE38-336B-4F87-FB3204C5E5D1}"/>
                </a:ext>
              </a:extLst>
            </p:cNvPr>
            <p:cNvSpPr txBox="1"/>
            <p:nvPr/>
          </p:nvSpPr>
          <p:spPr>
            <a:xfrm>
              <a:off x="6096000" y="3749635"/>
              <a:ext cx="78723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>
                  <a:alpha val="89804"/>
                </a:srgb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chemeClr val="accent4">
                      <a:lumMod val="50000"/>
                    </a:schemeClr>
                  </a:solidFill>
                </a:rPr>
                <a:t>Rhein</a:t>
              </a:r>
              <a:endParaRPr lang="en-CH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A7D3B4-8BFF-2CA4-51F8-3852DAF80CA9}"/>
                </a:ext>
              </a:extLst>
            </p:cNvPr>
            <p:cNvSpPr txBox="1"/>
            <p:nvPr/>
          </p:nvSpPr>
          <p:spPr>
            <a:xfrm>
              <a:off x="7905554" y="3938468"/>
              <a:ext cx="751696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>
                  <a:alpha val="89804"/>
                </a:srgb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chemeClr val="accent4">
                      <a:lumMod val="50000"/>
                    </a:schemeClr>
                  </a:solidFill>
                </a:rPr>
                <a:t>Ill</a:t>
              </a:r>
              <a:endParaRPr lang="en-CH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F34886A-EDBB-D4E7-6F05-9049DD303B5E}"/>
                </a:ext>
              </a:extLst>
            </p:cNvPr>
            <p:cNvSpPr/>
            <p:nvPr/>
          </p:nvSpPr>
          <p:spPr>
            <a:xfrm>
              <a:off x="8326708" y="1156855"/>
              <a:ext cx="214619" cy="187036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C2730D-03EE-6F59-E81B-65DA5431A458}"/>
                </a:ext>
              </a:extLst>
            </p:cNvPr>
            <p:cNvSpPr/>
            <p:nvPr/>
          </p:nvSpPr>
          <p:spPr>
            <a:xfrm>
              <a:off x="7790769" y="2903707"/>
              <a:ext cx="214619" cy="187036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E71BDF-FFC6-63CE-C12A-43BAB975FBC8}"/>
                </a:ext>
              </a:extLst>
            </p:cNvPr>
            <p:cNvSpPr txBox="1"/>
            <p:nvPr/>
          </p:nvSpPr>
          <p:spPr>
            <a:xfrm>
              <a:off x="8261669" y="2597735"/>
              <a:ext cx="1090149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85098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Gisingen</a:t>
              </a:r>
              <a:endParaRPr lang="en-CH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EECC26-3FA0-7604-A71F-B61220FCD5F6}"/>
                </a:ext>
              </a:extLst>
            </p:cNvPr>
            <p:cNvSpPr txBox="1"/>
            <p:nvPr/>
          </p:nvSpPr>
          <p:spPr>
            <a:xfrm>
              <a:off x="8636763" y="1086168"/>
              <a:ext cx="1345437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85098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Diepoldsau</a:t>
              </a:r>
              <a:endParaRPr lang="en-CH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DAC25AD-F30A-C7A8-7CD6-C528DA469E6B}"/>
              </a:ext>
            </a:extLst>
          </p:cNvPr>
          <p:cNvSpPr txBox="1"/>
          <p:nvPr/>
        </p:nvSpPr>
        <p:spPr>
          <a:xfrm>
            <a:off x="803340" y="1627372"/>
            <a:ext cx="4900784" cy="1866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lvl="0" indent="-342900">
              <a:lnSpc>
                <a:spcPct val="130000"/>
              </a:lnSpc>
              <a:buFont typeface="+mj-lt"/>
              <a:buAutoNum type="arabicPeriod"/>
            </a:pPr>
            <a:r>
              <a:rPr lang="en-GB" dirty="0"/>
              <a:t>Timeseries review</a:t>
            </a:r>
          </a:p>
          <a:p>
            <a:pPr marL="342900" lvl="0" indent="-342900">
              <a:lnSpc>
                <a:spcPct val="130000"/>
              </a:lnSpc>
              <a:buFont typeface="+mj-lt"/>
              <a:buAutoNum type="arabicPeriod"/>
            </a:pPr>
            <a:r>
              <a:rPr lang="en-GB" dirty="0"/>
              <a:t>Timeseries Modelling</a:t>
            </a:r>
          </a:p>
          <a:p>
            <a:pPr marL="342900" lvl="0" indent="-342900">
              <a:lnSpc>
                <a:spcPct val="130000"/>
              </a:lnSpc>
              <a:buFont typeface="+mj-lt"/>
              <a:buAutoNum type="arabicPeriod"/>
            </a:pPr>
            <a:r>
              <a:rPr lang="en-US" dirty="0"/>
              <a:t>Timeseries application &amp; evaluation</a:t>
            </a:r>
          </a:p>
          <a:p>
            <a:pPr marL="342900" lvl="0" indent="-342900">
              <a:lnSpc>
                <a:spcPct val="130000"/>
              </a:lnSpc>
              <a:buFont typeface="+mj-lt"/>
              <a:buAutoNum type="arabicPeriod"/>
            </a:pPr>
            <a:r>
              <a:rPr lang="en-US" dirty="0"/>
              <a:t>Ill to Rhein relative sediment influence</a:t>
            </a:r>
          </a:p>
          <a:p>
            <a:pPr marL="342900" lvl="0" indent="-342900">
              <a:lnSpc>
                <a:spcPct val="130000"/>
              </a:lnSpc>
              <a:buFont typeface="+mj-lt"/>
              <a:buAutoNum type="arabicPeriod"/>
            </a:pPr>
            <a:r>
              <a:rPr lang="en-US" dirty="0"/>
              <a:t>Independent variables? </a:t>
            </a:r>
            <a:endParaRPr lang="en-CH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92DF14-19A7-1AE1-FF88-B4050ABE1401}"/>
              </a:ext>
            </a:extLst>
          </p:cNvPr>
          <p:cNvSpPr txBox="1"/>
          <p:nvPr/>
        </p:nvSpPr>
        <p:spPr>
          <a:xfrm>
            <a:off x="400008" y="4225329"/>
            <a:ext cx="6152877" cy="20638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Jupyter notebook to run (must run when I test it)</a:t>
            </a: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each section, a .</a:t>
            </a:r>
            <a:r>
              <a:rPr lang="en-US" sz="20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file with all the functions</a:t>
            </a: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Each section 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independent from each other</a:t>
            </a: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Title at the start of each section &amp; results/comments in the end of each section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1C148D1-9D76-0166-31FF-957A44F66FAB}"/>
              </a:ext>
            </a:extLst>
          </p:cNvPr>
          <p:cNvSpPr txBox="1">
            <a:spLocks/>
          </p:cNvSpPr>
          <p:nvPr/>
        </p:nvSpPr>
        <p:spPr>
          <a:xfrm>
            <a:off x="830141" y="3429000"/>
            <a:ext cx="36261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OUTPUT: </a:t>
            </a:r>
            <a:endParaRPr lang="en-CH" sz="4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0744C-AD48-31FB-9750-A5220AFE9557}"/>
              </a:ext>
            </a:extLst>
          </p:cNvPr>
          <p:cNvSpPr txBox="1"/>
          <p:nvPr/>
        </p:nvSpPr>
        <p:spPr>
          <a:xfrm>
            <a:off x="8819156" y="5868570"/>
            <a:ext cx="2590800" cy="4616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CH" sz="2400" dirty="0"/>
              <a:t>lagostin@ethz.ch</a:t>
            </a:r>
          </a:p>
        </p:txBody>
      </p:sp>
    </p:spTree>
    <p:extLst>
      <p:ext uri="{BB962C8B-B14F-4D97-AF65-F5344CB8AC3E}">
        <p14:creationId xmlns:p14="http://schemas.microsoft.com/office/powerpoint/2010/main" val="158133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09E42-AF48-C079-2558-F58F57D0B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8A9E2E-31AD-E935-5830-5C425647A0CE}"/>
              </a:ext>
            </a:extLst>
          </p:cNvPr>
          <p:cNvSpPr txBox="1"/>
          <p:nvPr/>
        </p:nvSpPr>
        <p:spPr>
          <a:xfrm>
            <a:off x="482851" y="2282111"/>
            <a:ext cx="10741813" cy="3664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Work together within the group to create the code – share the results and comment freely with the class ( better if on the Moodle Forum)</a:t>
            </a:r>
          </a:p>
          <a:p>
            <a:pPr marL="800100" lvl="1" indent="-342900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Codes within groups must be different, same code between groups will be penalized</a:t>
            </a:r>
          </a:p>
          <a:p>
            <a:pPr marL="800100" lvl="1" indent="-342900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Codes must run: code with errors will not be graded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Grading will be on:</a:t>
            </a:r>
          </a:p>
          <a:p>
            <a:pPr marL="800100" lvl="1" indent="-342900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Readability of the code ( AI slop, long unnecessary code and ugly code formatting is bad)</a:t>
            </a:r>
          </a:p>
          <a:p>
            <a:pPr marL="800100" lvl="1" indent="-342900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Comprehension of the statistical methods (hypothesis, assumptions and shortfalls)</a:t>
            </a:r>
          </a:p>
          <a:p>
            <a:pPr marL="800100" lvl="1" indent="-342900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Interpretation of the results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135BF1-6B43-765F-F803-AF5A6C7CCA91}"/>
              </a:ext>
            </a:extLst>
          </p:cNvPr>
          <p:cNvSpPr txBox="1">
            <a:spLocks/>
          </p:cNvSpPr>
          <p:nvPr/>
        </p:nvSpPr>
        <p:spPr>
          <a:xfrm>
            <a:off x="612594" y="500231"/>
            <a:ext cx="10482328" cy="1325563"/>
          </a:xfrm>
          <a:prstGeom prst="rect">
            <a:avLst/>
          </a:prstGeom>
          <a:solidFill>
            <a:srgbClr val="F2CFEE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   Rules of the Game</a:t>
            </a:r>
            <a:endParaRPr lang="en-CH" sz="4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890BC6-C23A-1882-206F-A498AD36E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937"/>
          <a:stretch>
            <a:fillRect/>
          </a:stretch>
        </p:blipFill>
        <p:spPr>
          <a:xfrm>
            <a:off x="6154168" y="217755"/>
            <a:ext cx="3934712" cy="189051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30899FC-81DF-A29A-1C4C-77383E4681D1}"/>
              </a:ext>
            </a:extLst>
          </p:cNvPr>
          <p:cNvSpPr txBox="1"/>
          <p:nvPr/>
        </p:nvSpPr>
        <p:spPr>
          <a:xfrm>
            <a:off x="8361956" y="5941099"/>
            <a:ext cx="2590800" cy="4616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CH" sz="2400" dirty="0"/>
              <a:t>lagostin@ethz.ch</a:t>
            </a:r>
          </a:p>
        </p:txBody>
      </p:sp>
    </p:spTree>
    <p:extLst>
      <p:ext uri="{BB962C8B-B14F-4D97-AF65-F5344CB8AC3E}">
        <p14:creationId xmlns:p14="http://schemas.microsoft.com/office/powerpoint/2010/main" val="97064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B1CC5C-D573-6F03-973D-57E42A9E58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" r="998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90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B533-BC71-793E-47EC-66968308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-  good coding environment</a:t>
            </a:r>
            <a:endParaRPr lang="en-CH" dirty="0"/>
          </a:p>
        </p:txBody>
      </p:sp>
      <p:pic>
        <p:nvPicPr>
          <p:cNvPr id="10242" name="Picture 2" descr="Visual Studio Code launches as a snap | Snapcraft">
            <a:extLst>
              <a:ext uri="{FF2B5EF4-FFF2-40B4-BE49-F238E27FC236}">
                <a16:creationId xmlns:a16="http://schemas.microsoft.com/office/drawing/2014/main" id="{0EC14BE7-0528-AC3A-F634-6CBCF36E2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2407920"/>
            <a:ext cx="4572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Add with solid fill">
            <a:extLst>
              <a:ext uri="{FF2B5EF4-FFF2-40B4-BE49-F238E27FC236}">
                <a16:creationId xmlns:a16="http://schemas.microsoft.com/office/drawing/2014/main" id="{A6FC09BE-16EE-93E2-7B70-C02F595E7A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sp>
        <p:nvSpPr>
          <p:cNvPr id="6" name="AutoShape 4" descr="Github Copilot - Teaching and Learning Innovation Centre (TALIC)">
            <a:extLst>
              <a:ext uri="{FF2B5EF4-FFF2-40B4-BE49-F238E27FC236}">
                <a16:creationId xmlns:a16="http://schemas.microsoft.com/office/drawing/2014/main" id="{945E8117-8D6F-EA57-945C-BFF67F8EA4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H"/>
          </a:p>
        </p:txBody>
      </p:sp>
      <p:sp>
        <p:nvSpPr>
          <p:cNvPr id="7" name="AutoShape 6" descr="Github Copilot - Teaching and Learning Innovation Centre (TALIC)">
            <a:extLst>
              <a:ext uri="{FF2B5EF4-FFF2-40B4-BE49-F238E27FC236}">
                <a16:creationId xmlns:a16="http://schemas.microsoft.com/office/drawing/2014/main" id="{B09B00DA-A208-658C-6A7F-FCD550F660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66660" y="1744980"/>
            <a:ext cx="2880360" cy="288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H"/>
          </a:p>
        </p:txBody>
      </p:sp>
      <p:pic>
        <p:nvPicPr>
          <p:cNvPr id="10250" name="Picture 10" descr="GitHub Copilot Introduction, an AI-assisted Coding - Blog | GitProtect.io">
            <a:extLst>
              <a:ext uri="{FF2B5EF4-FFF2-40B4-BE49-F238E27FC236}">
                <a16:creationId xmlns:a16="http://schemas.microsoft.com/office/drawing/2014/main" id="{45BA8F30-430A-1051-FCAA-77C4C618E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380" y="2318861"/>
            <a:ext cx="4440554" cy="222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479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B65CD-4C95-65B5-FF40-15BC9981B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A0812-47BD-BCEE-9075-251CEE91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-  good collaborative coding</a:t>
            </a:r>
            <a:endParaRPr lang="en-CH" dirty="0"/>
          </a:p>
        </p:txBody>
      </p:sp>
      <p:sp>
        <p:nvSpPr>
          <p:cNvPr id="7" name="AutoShape 6" descr="Github Copilot - Teaching and Learning Innovation Centre (TALIC)">
            <a:extLst>
              <a:ext uri="{FF2B5EF4-FFF2-40B4-BE49-F238E27FC236}">
                <a16:creationId xmlns:a16="http://schemas.microsoft.com/office/drawing/2014/main" id="{6FA6A76F-C104-FA5B-E90A-3187129E16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66660" y="1744980"/>
            <a:ext cx="2880360" cy="288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B12F4-05E6-49A1-927E-C6589C3626E3}"/>
              </a:ext>
            </a:extLst>
          </p:cNvPr>
          <p:cNvSpPr txBox="1"/>
          <p:nvPr/>
        </p:nvSpPr>
        <p:spPr>
          <a:xfrm>
            <a:off x="544830" y="1958340"/>
            <a:ext cx="96328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n-US" dirty="0"/>
              <a:t>Install Git and Git Bash</a:t>
            </a:r>
            <a:br>
              <a:rPr lang="en-US" dirty="0"/>
            </a:br>
            <a:r>
              <a:rPr lang="en-US" dirty="0"/>
              <a:t>Make sure to login to your GitHub account</a:t>
            </a:r>
            <a:br>
              <a:rPr lang="en-US" dirty="0"/>
            </a:b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Create a Git repository (locally)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Create a .</a:t>
            </a:r>
            <a:r>
              <a:rPr lang="en-US" dirty="0" err="1"/>
              <a:t>gitignore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Make some changes to the code, commit  ( both from bash and from vs code)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Publish branch to your GitHub account ( make it private)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Go online ( general settings) and invite a collaborator  ( your group colleague)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Branch the Main – Publish to GitHub  ( do some work and some commits)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Pull Request ( Open Changes – make some comments – code suggestions)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After Merging – delete branch</a:t>
            </a:r>
          </a:p>
        </p:txBody>
      </p:sp>
    </p:spTree>
    <p:extLst>
      <p:ext uri="{BB962C8B-B14F-4D97-AF65-F5344CB8AC3E}">
        <p14:creationId xmlns:p14="http://schemas.microsoft.com/office/powerpoint/2010/main" val="336659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e21a6c6-5a4a-4136-b2a1-e9c2ccde698f">
      <Terms xmlns="http://schemas.microsoft.com/office/infopath/2007/PartnerControls"/>
    </lcf76f155ced4ddcb4097134ff3c332f>
    <TaxCatchAll xmlns="f1180128-f787-440b-ad69-36ecd5963c0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779438B25AB14CB3D691453D6FEEB8" ma:contentTypeVersion="15" ma:contentTypeDescription="Ein neues Dokument erstellen." ma:contentTypeScope="" ma:versionID="f3ff30264369cdfbb49e491f57e16f90">
  <xsd:schema xmlns:xsd="http://www.w3.org/2001/XMLSchema" xmlns:xs="http://www.w3.org/2001/XMLSchema" xmlns:p="http://schemas.microsoft.com/office/2006/metadata/properties" xmlns:ns2="2e21a6c6-5a4a-4136-b2a1-e9c2ccde698f" xmlns:ns3="f1180128-f787-440b-ad69-36ecd5963c07" targetNamespace="http://schemas.microsoft.com/office/2006/metadata/properties" ma:root="true" ma:fieldsID="916126e1ccc563e6aa903fcac7bfb9cb" ns2:_="" ns3:_="">
    <xsd:import namespace="2e21a6c6-5a4a-4136-b2a1-e9c2ccde698f"/>
    <xsd:import namespace="f1180128-f787-440b-ad69-36ecd5963c0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21a6c6-5a4a-4136-b2a1-e9c2ccde698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325753ee-1565-428d-819f-4135842f58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180128-f787-440b-ad69-36ecd5963c0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30a2df89-b19f-4462-aef3-becaa1a202c2}" ma:internalName="TaxCatchAll" ma:showField="CatchAllData" ma:web="f1180128-f787-440b-ad69-36ecd5963c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D6DA5A-50A2-42A5-8F68-A483CF6A33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D58ADF-3FEE-4526-AE91-310E040220A9}">
  <ds:schemaRefs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www.w3.org/XML/1998/namespace"/>
    <ds:schemaRef ds:uri="f1180128-f787-440b-ad69-36ecd5963c07"/>
    <ds:schemaRef ds:uri="http://schemas.microsoft.com/office/2006/documentManagement/types"/>
    <ds:schemaRef ds:uri="2e21a6c6-5a4a-4136-b2a1-e9c2ccde698f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9DD7084-0D8C-4832-8241-9D8E6100FDD7}"/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488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Experimental and Computer Laboratory FS2026 Time schedule</vt:lpstr>
      <vt:lpstr>Module 2 –  Timeseries analysis </vt:lpstr>
      <vt:lpstr>Case Study : Rhein –Ill confluence</vt:lpstr>
      <vt:lpstr>Illspiz Kraftwerk</vt:lpstr>
      <vt:lpstr>Ill – Rhein confluence</vt:lpstr>
      <vt:lpstr>Ill – Rhein confluence</vt:lpstr>
      <vt:lpstr>Dataset</vt:lpstr>
      <vt:lpstr>Module 2: timeseries analysis</vt:lpstr>
      <vt:lpstr>PowerPoint Presentation</vt:lpstr>
      <vt:lpstr>PowerPoint Presentation</vt:lpstr>
      <vt:lpstr>Coding -  good coding environment</vt:lpstr>
      <vt:lpstr>GitHub -  good collaborative 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Agostini  Ludovico (IfU, HYD)</dc:creator>
  <cp:lastModifiedBy>Agostini  Ludovico (IfU, HYD)</cp:lastModifiedBy>
  <cp:revision>1</cp:revision>
  <cp:lastPrinted>2026-03-19T16:28:26Z</cp:lastPrinted>
  <dcterms:created xsi:type="dcterms:W3CDTF">2026-03-19T10:36:37Z</dcterms:created>
  <dcterms:modified xsi:type="dcterms:W3CDTF">2026-05-07T18:02:21Z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0x010100B7779438B25AB14CB3D691453D6FEEB8</vt:lpwstr>
  </property>
  <property fmtid="{D5CDD505-2E9C-101B-9397-08002B2CF9AE}" pid="3" name="MediaServiceImageTags">
    <vt:lpwstr/>
  </property>
</Properties>
</file>